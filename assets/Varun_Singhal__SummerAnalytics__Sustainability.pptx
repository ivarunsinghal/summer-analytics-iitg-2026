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 id="2147483679" r:id="rId2"/>
    <p:sldMasterId id="2147483680" r:id="rId3"/>
  </p:sldMasterIdLst>
  <p:notesMasterIdLst>
    <p:notesMasterId r:id="rId14"/>
  </p:notesMasterIdLst>
  <p:sldIdLst>
    <p:sldId id="256" r:id="rId4"/>
    <p:sldId id="257" r:id="rId5"/>
    <p:sldId id="258" r:id="rId6"/>
    <p:sldId id="259" r:id="rId7"/>
    <p:sldId id="260" r:id="rId8"/>
    <p:sldId id="266" r:id="rId9"/>
    <p:sldId id="267" r:id="rId10"/>
    <p:sldId id="263" r:id="rId11"/>
    <p:sldId id="264" r:id="rId12"/>
    <p:sldId id="268" r:id="rId13"/>
  </p:sldIdLst>
  <p:sldSz cx="9144000" cy="5143500" type="screen16x9"/>
  <p:notesSz cx="6858000" cy="9144000"/>
  <p:embeddedFontLst>
    <p:embeddedFont>
      <p:font typeface="Poppins" panose="00000500000000000000" pitchFamily="2" charset="0"/>
      <p:regular r:id="rId15"/>
      <p:bold r:id="rId16"/>
      <p:italic r:id="rId17"/>
      <p:boldItalic r:id="rId18"/>
    </p:embeddedFont>
    <p:embeddedFont>
      <p:font typeface="Poppins SemiBold" panose="000007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font" Target="fonts/font7.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font" Target="fonts/font5.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f3109ef6d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f3109ef6db_0_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3109ef6db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g3f3109ef6db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f3109ef6db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g3f3109ef6db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f3109ef6db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f3109ef6db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f3109ef6db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g3f3109ef6db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6344A252-4C88-7D9B-BA48-62555424DCDF}"/>
            </a:ext>
          </a:extLst>
        </p:cNvPr>
        <p:cNvGrpSpPr/>
        <p:nvPr/>
      </p:nvGrpSpPr>
      <p:grpSpPr>
        <a:xfrm>
          <a:off x="0" y="0"/>
          <a:ext cx="0" cy="0"/>
          <a:chOff x="0" y="0"/>
          <a:chExt cx="0" cy="0"/>
        </a:xfrm>
      </p:grpSpPr>
      <p:sp>
        <p:nvSpPr>
          <p:cNvPr id="172" name="Google Shape;172;g3f3109ef6db_0_275:notes">
            <a:extLst>
              <a:ext uri="{FF2B5EF4-FFF2-40B4-BE49-F238E27FC236}">
                <a16:creationId xmlns:a16="http://schemas.microsoft.com/office/drawing/2014/main" id="{FFB065B2-0D2C-E511-76E1-C806AF3109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STILL NEEDED before final submission:</a:t>
            </a:r>
          </a:p>
          <a:p>
            <a:endParaRPr/>
          </a:p>
          <a:p>
            <a:r>
              <a:t>1) Rec 1 (Air-&gt;Rail) - eligible trip count Y:</a:t>
            </a:r>
          </a:p>
          <a:p>
            <a:r>
              <a:t>COUNT(CASE WHEN "Public Trip Data"."ShippingTypeDescription" LIKE '%Flight%' AND "Public Trip Data"."DepartureLocationCountry" = "Public Trip Data"."ArrivalLocationCountry" THEN "Public Trip Data"."TRIPID" END)</a:t>
            </a:r>
          </a:p>
          <a:p>
            <a:r>
              <a:t>Then: Z (tonnes) = Y * 3.005 / 1000 (i.e. Y trips x 3005 kg saved per trip, /1000 for tonnes)</a:t>
            </a:r>
          </a:p>
          <a:p>
            <a:endParaRPr/>
          </a:p>
          <a:p>
            <a:r>
              <a:t>2) Rec 1 - dollar savings W:</a:t>
            </a:r>
          </a:p>
          <a:p>
            <a:r>
              <a:t>Build AVG(NetCosts) filtered Air vs Rail (same CASE pattern as CO2e), find the delta, multiply by Y.</a:t>
            </a:r>
          </a:p>
          <a:p>
            <a:endParaRPr/>
          </a:p>
          <a:p>
            <a:r>
              <a:t>3) Rec 3 (Oceania/Sales) - dollar savings Z:</a:t>
            </a:r>
          </a:p>
          <a:p>
            <a:r>
              <a:t>AVG(CASE WHEN DepartureLocationCountry='AU' AND BusinessUnit='Sales' AND Purpose='Customer Visit' THEN NetCosts END) x 0.25 x 3059 trips</a:t>
            </a:r>
          </a:p>
          <a:p>
            <a:endParaRPr/>
          </a:p>
          <a:p>
            <a:r>
              <a:t>Once you have these 3 numbers, replace the [INSERT: ...] placeholders on this slide.</a:t>
            </a:r>
          </a:p>
        </p:txBody>
      </p:sp>
      <p:sp>
        <p:nvSpPr>
          <p:cNvPr id="173" name="Google Shape;173;g3f3109ef6db_0_275:notes">
            <a:extLst>
              <a:ext uri="{FF2B5EF4-FFF2-40B4-BE49-F238E27FC236}">
                <a16:creationId xmlns:a16="http://schemas.microsoft.com/office/drawing/2014/main" id="{C65032C9-0FF2-3039-781C-95C6E6593C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7652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52EFF126-F367-99A9-F409-6EA07CB8546D}"/>
            </a:ext>
          </a:extLst>
        </p:cNvPr>
        <p:cNvGrpSpPr/>
        <p:nvPr/>
      </p:nvGrpSpPr>
      <p:grpSpPr>
        <a:xfrm>
          <a:off x="0" y="0"/>
          <a:ext cx="0" cy="0"/>
          <a:chOff x="0" y="0"/>
          <a:chExt cx="0" cy="0"/>
        </a:xfrm>
      </p:grpSpPr>
      <p:sp>
        <p:nvSpPr>
          <p:cNvPr id="172" name="Google Shape;172;g3f3109ef6db_0_275:notes">
            <a:extLst>
              <a:ext uri="{FF2B5EF4-FFF2-40B4-BE49-F238E27FC236}">
                <a16:creationId xmlns:a16="http://schemas.microsoft.com/office/drawing/2014/main" id="{72E2543A-F2CB-63F6-D00F-F557F221A5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g3f3109ef6db_0_275:notes">
            <a:extLst>
              <a:ext uri="{FF2B5EF4-FFF2-40B4-BE49-F238E27FC236}">
                <a16:creationId xmlns:a16="http://schemas.microsoft.com/office/drawing/2014/main" id="{3995E495-84FB-C425-3C6C-8AF6A0DB3E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376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f3109ef6db_0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g3f3109ef6db_0_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page">
  <p:cSld name="Titlepage">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05992"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lt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3"/>
          <p:cNvSpPr txBox="1">
            <a:spLocks noGrp="1"/>
          </p:cNvSpPr>
          <p:nvPr>
            <p:ph type="body" idx="1"/>
          </p:nvPr>
        </p:nvSpPr>
        <p:spPr>
          <a:xfrm>
            <a:off x="305992" y="4013900"/>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3"/>
          <p:cNvSpPr txBox="1">
            <a:spLocks noGrp="1"/>
          </p:cNvSpPr>
          <p:nvPr>
            <p:ph type="body" idx="2"/>
          </p:nvPr>
        </p:nvSpPr>
        <p:spPr>
          <a:xfrm>
            <a:off x="305992" y="4252091"/>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3"/>
          <p:cNvSpPr txBox="1">
            <a:spLocks noGrp="1"/>
          </p:cNvSpPr>
          <p:nvPr>
            <p:ph type="body" idx="3"/>
          </p:nvPr>
        </p:nvSpPr>
        <p:spPr>
          <a:xfrm>
            <a:off x="305991"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lt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5" name="Google Shape;55;p13"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page">
  <p:cSld name="Titlepage">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305992"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lt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5"/>
          <p:cNvSpPr txBox="1">
            <a:spLocks noGrp="1"/>
          </p:cNvSpPr>
          <p:nvPr>
            <p:ph type="body" idx="1"/>
          </p:nvPr>
        </p:nvSpPr>
        <p:spPr>
          <a:xfrm>
            <a:off x="305992" y="4013900"/>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5"/>
          <p:cNvSpPr txBox="1">
            <a:spLocks noGrp="1"/>
          </p:cNvSpPr>
          <p:nvPr>
            <p:ph type="body" idx="2"/>
          </p:nvPr>
        </p:nvSpPr>
        <p:spPr>
          <a:xfrm>
            <a:off x="305992" y="4252091"/>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15"/>
          <p:cNvSpPr txBox="1">
            <a:spLocks noGrp="1"/>
          </p:cNvSpPr>
          <p:nvPr>
            <p:ph type="body" idx="3"/>
          </p:nvPr>
        </p:nvSpPr>
        <p:spPr>
          <a:xfrm>
            <a:off x="305991"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lt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66" name="Google Shape;66;p15"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pter slide black">
  <p:cSld name="Chapter slide black">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305991" y="2294751"/>
            <a:ext cx="8532000" cy="554100"/>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SzPts val="1400"/>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6"/>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ly Title white">
  <p:cSld name="Only Title white">
    <p:bg>
      <p:bgPr>
        <a:solidFill>
          <a:schemeClr val="lt1"/>
        </a:solidFill>
        <a:effectLst/>
      </p:bgPr>
    </p:bg>
    <p:spTree>
      <p:nvGrpSpPr>
        <p:cNvPr id="1" name="Shape 70"/>
        <p:cNvGrpSpPr/>
        <p:nvPr/>
      </p:nvGrpSpPr>
      <p:grpSpPr>
        <a:xfrm>
          <a:off x="0" y="0"/>
          <a:ext cx="0" cy="0"/>
          <a:chOff x="0" y="0"/>
          <a:chExt cx="0" cy="0"/>
        </a:xfrm>
      </p:grpSpPr>
      <p:sp>
        <p:nvSpPr>
          <p:cNvPr id="71" name="Google Shape;71;p17"/>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72" name="Google Shape;72;p17"/>
          <p:cNvPicPr preferRelativeResize="0"/>
          <p:nvPr/>
        </p:nvPicPr>
        <p:blipFill rotWithShape="1">
          <a:blip r:embed="rId2">
            <a:alphaModFix/>
          </a:blip>
          <a:srcRect/>
          <a:stretch/>
        </p:blipFill>
        <p:spPr>
          <a:xfrm>
            <a:off x="8428312" y="265252"/>
            <a:ext cx="420413" cy="447619"/>
          </a:xfrm>
          <a:prstGeom prst="rect">
            <a:avLst/>
          </a:prstGeom>
          <a:noFill/>
          <a:ln>
            <a:noFill/>
          </a:ln>
        </p:spPr>
      </p:pic>
      <p:sp>
        <p:nvSpPr>
          <p:cNvPr id="73" name="Google Shape;73;p17"/>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ly Title black">
  <p:cSld name="Only Title black">
    <p:spTree>
      <p:nvGrpSpPr>
        <p:cNvPr id="1" name="Shape 74"/>
        <p:cNvGrpSpPr/>
        <p:nvPr/>
      </p:nvGrpSpPr>
      <p:grpSpPr>
        <a:xfrm>
          <a:off x="0" y="0"/>
          <a:ext cx="0" cy="0"/>
          <a:chOff x="0" y="0"/>
          <a:chExt cx="0" cy="0"/>
        </a:xfrm>
      </p:grpSpPr>
      <p:sp>
        <p:nvSpPr>
          <p:cNvPr id="75" name="Google Shape;75;p18"/>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76" name="Google Shape;76;p18"/>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hapterslide white">
  <p:cSld name="Chapterslide white">
    <p:bg>
      <p:bgPr>
        <a:solidFill>
          <a:schemeClr val="lt1"/>
        </a:solidFill>
        <a:effectLst/>
      </p:bgPr>
    </p:bg>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305991" y="2294751"/>
            <a:ext cx="8532000" cy="554100"/>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SzPts val="1400"/>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9"/>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80" name="Google Shape;80;p19"/>
          <p:cNvPicPr preferRelativeResize="0"/>
          <p:nvPr/>
        </p:nvPicPr>
        <p:blipFill rotWithShape="1">
          <a:blip r:embed="rId2">
            <a:alphaModFix/>
          </a:blip>
          <a:srcRect/>
          <a:stretch/>
        </p:blipFill>
        <p:spPr>
          <a:xfrm>
            <a:off x="8428312" y="265252"/>
            <a:ext cx="420413" cy="44761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page with graphic">
  <p:cSld name="Titlepage with graphic">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305992"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lt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0"/>
          <p:cNvSpPr txBox="1">
            <a:spLocks noGrp="1"/>
          </p:cNvSpPr>
          <p:nvPr>
            <p:ph type="body" idx="1"/>
          </p:nvPr>
        </p:nvSpPr>
        <p:spPr>
          <a:xfrm>
            <a:off x="305992" y="4013900"/>
            <a:ext cx="42717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20"/>
          <p:cNvSpPr txBox="1">
            <a:spLocks noGrp="1"/>
          </p:cNvSpPr>
          <p:nvPr>
            <p:ph type="body" idx="2"/>
          </p:nvPr>
        </p:nvSpPr>
        <p:spPr>
          <a:xfrm>
            <a:off x="305992" y="4252091"/>
            <a:ext cx="42717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0"/>
          <p:cNvSpPr txBox="1">
            <a:spLocks noGrp="1"/>
          </p:cNvSpPr>
          <p:nvPr>
            <p:ph type="body" idx="3"/>
          </p:nvPr>
        </p:nvSpPr>
        <p:spPr>
          <a:xfrm>
            <a:off x="305993"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lt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86" name="Google Shape;86;p20"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
        <p:nvSpPr>
          <p:cNvPr id="87" name="Google Shape;87;p20"/>
          <p:cNvSpPr>
            <a:spLocks noGrp="1"/>
          </p:cNvSpPr>
          <p:nvPr>
            <p:ph type="pic" idx="4"/>
          </p:nvPr>
        </p:nvSpPr>
        <p:spPr>
          <a:xfrm>
            <a:off x="4842273" y="0"/>
            <a:ext cx="4301700" cy="5143500"/>
          </a:xfrm>
          <a:prstGeom prst="rect">
            <a:avLst/>
          </a:prstGeom>
          <a:noFill/>
          <a:ln>
            <a:noFill/>
          </a:ln>
        </p:spPr>
      </p:sp>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page white">
  <p:cSld name="Titlepage white">
    <p:bg>
      <p:bgPr>
        <a:solidFill>
          <a:schemeClr val="lt1"/>
        </a:solidFill>
        <a:effectLst/>
      </p:bgPr>
    </p:bg>
    <p:spTree>
      <p:nvGrpSpPr>
        <p:cNvPr id="1" name="Shape 88"/>
        <p:cNvGrpSpPr/>
        <p:nvPr/>
      </p:nvGrpSpPr>
      <p:grpSpPr>
        <a:xfrm>
          <a:off x="0" y="0"/>
          <a:ext cx="0" cy="0"/>
          <a:chOff x="0" y="0"/>
          <a:chExt cx="0" cy="0"/>
        </a:xfrm>
      </p:grpSpPr>
      <p:sp>
        <p:nvSpPr>
          <p:cNvPr id="89" name="Google Shape;89;p21"/>
          <p:cNvSpPr txBox="1">
            <a:spLocks noGrp="1"/>
          </p:cNvSpPr>
          <p:nvPr>
            <p:ph type="title"/>
          </p:nvPr>
        </p:nvSpPr>
        <p:spPr>
          <a:xfrm>
            <a:off x="306016"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dk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1"/>
          <p:cNvSpPr txBox="1">
            <a:spLocks noGrp="1"/>
          </p:cNvSpPr>
          <p:nvPr>
            <p:ph type="body" idx="1"/>
          </p:nvPr>
        </p:nvSpPr>
        <p:spPr>
          <a:xfrm>
            <a:off x="305992" y="4013900"/>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21"/>
          <p:cNvSpPr txBox="1">
            <a:spLocks noGrp="1"/>
          </p:cNvSpPr>
          <p:nvPr>
            <p:ph type="body" idx="2"/>
          </p:nvPr>
        </p:nvSpPr>
        <p:spPr>
          <a:xfrm>
            <a:off x="305992" y="4252091"/>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21"/>
          <p:cNvSpPr txBox="1">
            <a:spLocks noGrp="1"/>
          </p:cNvSpPr>
          <p:nvPr>
            <p:ph type="body" idx="3"/>
          </p:nvPr>
        </p:nvSpPr>
        <p:spPr>
          <a:xfrm>
            <a:off x="306017"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93" name="Google Shape;93;p21"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hank you with details">
  <p:cSld name="Thank you with details">
    <p:spTree>
      <p:nvGrpSpPr>
        <p:cNvPr id="1" name="Shape 94"/>
        <p:cNvGrpSpPr/>
        <p:nvPr/>
      </p:nvGrpSpPr>
      <p:grpSpPr>
        <a:xfrm>
          <a:off x="0" y="0"/>
          <a:ext cx="0" cy="0"/>
          <a:chOff x="0" y="0"/>
          <a:chExt cx="0" cy="0"/>
        </a:xfrm>
      </p:grpSpPr>
      <p:sp>
        <p:nvSpPr>
          <p:cNvPr id="95" name="Google Shape;95;p22"/>
          <p:cNvSpPr txBox="1">
            <a:spLocks noGrp="1"/>
          </p:cNvSpPr>
          <p:nvPr>
            <p:ph type="title"/>
          </p:nvPr>
        </p:nvSpPr>
        <p:spPr>
          <a:xfrm>
            <a:off x="305992" y="2181038"/>
            <a:ext cx="4266000" cy="554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2"/>
          <p:cNvSpPr txBox="1">
            <a:spLocks noGrp="1"/>
          </p:cNvSpPr>
          <p:nvPr>
            <p:ph type="body" idx="1"/>
          </p:nvPr>
        </p:nvSpPr>
        <p:spPr>
          <a:xfrm>
            <a:off x="305991" y="2874340"/>
            <a:ext cx="4266000" cy="3693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a:lvl1pPr>
            <a:lvl2pPr marL="914400" lvl="1" indent="-342900" algn="l">
              <a:lnSpc>
                <a:spcPct val="100000"/>
              </a:lnSpc>
              <a:spcBef>
                <a:spcPts val="0"/>
              </a:spcBef>
              <a:spcAft>
                <a:spcPts val="0"/>
              </a:spcAft>
              <a:buSzPts val="1800"/>
              <a:buChar char="•"/>
              <a:defRPr/>
            </a:lvl2pPr>
            <a:lvl3pPr marL="1371600" lvl="2" indent="-342900" algn="l">
              <a:lnSpc>
                <a:spcPct val="100000"/>
              </a:lnSpc>
              <a:spcBef>
                <a:spcPts val="0"/>
              </a:spcBef>
              <a:spcAft>
                <a:spcPts val="0"/>
              </a:spcAft>
              <a:buSzPts val="1800"/>
              <a:buChar char="•"/>
              <a:defRPr/>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pic>
        <p:nvPicPr>
          <p:cNvPr id="97" name="Google Shape;97;p22"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hank you.">
  <p:cSld name="Thank you.">
    <p:spTree>
      <p:nvGrpSpPr>
        <p:cNvPr id="1" name="Shape 98"/>
        <p:cNvGrpSpPr/>
        <p:nvPr/>
      </p:nvGrpSpPr>
      <p:grpSpPr>
        <a:xfrm>
          <a:off x="0" y="0"/>
          <a:ext cx="0" cy="0"/>
          <a:chOff x="0" y="0"/>
          <a:chExt cx="0" cy="0"/>
        </a:xfrm>
      </p:grpSpPr>
      <p:sp>
        <p:nvSpPr>
          <p:cNvPr id="99" name="Google Shape;99;p23"/>
          <p:cNvSpPr txBox="1">
            <a:spLocks noGrp="1"/>
          </p:cNvSpPr>
          <p:nvPr>
            <p:ph type="title"/>
          </p:nvPr>
        </p:nvSpPr>
        <p:spPr>
          <a:xfrm>
            <a:off x="305991" y="2735036"/>
            <a:ext cx="8532000" cy="554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sz="36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00" name="Google Shape;100;p23"/>
          <p:cNvPicPr preferRelativeResize="0"/>
          <p:nvPr/>
        </p:nvPicPr>
        <p:blipFill rotWithShape="1">
          <a:blip r:embed="rId2">
            <a:alphaModFix/>
          </a:blip>
          <a:srcRect/>
          <a:stretch/>
        </p:blipFill>
        <p:spPr>
          <a:xfrm>
            <a:off x="4223657" y="1825961"/>
            <a:ext cx="696687" cy="74177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ly Title black">
  <p:cSld name="Only Title black">
    <p:spTree>
      <p:nvGrpSpPr>
        <p:cNvPr id="1" name="Shape 106"/>
        <p:cNvGrpSpPr/>
        <p:nvPr/>
      </p:nvGrpSpPr>
      <p:grpSpPr>
        <a:xfrm>
          <a:off x="0" y="0"/>
          <a:ext cx="0" cy="0"/>
          <a:chOff x="0" y="0"/>
          <a:chExt cx="0" cy="0"/>
        </a:xfrm>
      </p:grpSpPr>
      <p:sp>
        <p:nvSpPr>
          <p:cNvPr id="107" name="Google Shape;107;p25"/>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08" name="Google Shape;108;p25"/>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hapter slide black">
  <p:cSld name="Chapter slide black">
    <p:spTree>
      <p:nvGrpSpPr>
        <p:cNvPr id="1" name="Shape 109"/>
        <p:cNvGrpSpPr/>
        <p:nvPr/>
      </p:nvGrpSpPr>
      <p:grpSpPr>
        <a:xfrm>
          <a:off x="0" y="0"/>
          <a:ext cx="0" cy="0"/>
          <a:chOff x="0" y="0"/>
          <a:chExt cx="0" cy="0"/>
        </a:xfrm>
      </p:grpSpPr>
      <p:sp>
        <p:nvSpPr>
          <p:cNvPr id="110" name="Google Shape;110;p26"/>
          <p:cNvSpPr txBox="1">
            <a:spLocks noGrp="1"/>
          </p:cNvSpPr>
          <p:nvPr>
            <p:ph type="title"/>
          </p:nvPr>
        </p:nvSpPr>
        <p:spPr>
          <a:xfrm>
            <a:off x="305991" y="2294751"/>
            <a:ext cx="8532000" cy="554100"/>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SzPts val="1400"/>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6"/>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hapterslide white">
  <p:cSld name="Chapterslide white">
    <p:bg>
      <p:bgPr>
        <a:solidFill>
          <a:schemeClr val="lt1"/>
        </a:solidFill>
        <a:effectLst/>
      </p:bgPr>
    </p:bg>
    <p:spTree>
      <p:nvGrpSpPr>
        <p:cNvPr id="1" name="Shape 112"/>
        <p:cNvGrpSpPr/>
        <p:nvPr/>
      </p:nvGrpSpPr>
      <p:grpSpPr>
        <a:xfrm>
          <a:off x="0" y="0"/>
          <a:ext cx="0" cy="0"/>
          <a:chOff x="0" y="0"/>
          <a:chExt cx="0" cy="0"/>
        </a:xfrm>
      </p:grpSpPr>
      <p:sp>
        <p:nvSpPr>
          <p:cNvPr id="113" name="Google Shape;113;p27"/>
          <p:cNvSpPr txBox="1">
            <a:spLocks noGrp="1"/>
          </p:cNvSpPr>
          <p:nvPr>
            <p:ph type="title"/>
          </p:nvPr>
        </p:nvSpPr>
        <p:spPr>
          <a:xfrm>
            <a:off x="305991" y="2294751"/>
            <a:ext cx="8532000" cy="554100"/>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SzPts val="1400"/>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115" name="Google Shape;115;p27"/>
          <p:cNvPicPr preferRelativeResize="0"/>
          <p:nvPr/>
        </p:nvPicPr>
        <p:blipFill rotWithShape="1">
          <a:blip r:embed="rId2">
            <a:alphaModFix/>
          </a:blip>
          <a:srcRect/>
          <a:stretch/>
        </p:blipFill>
        <p:spPr>
          <a:xfrm>
            <a:off x="8428312" y="265252"/>
            <a:ext cx="420413" cy="44761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ly Title white">
  <p:cSld name="Only Title white">
    <p:bg>
      <p:bgPr>
        <a:solidFill>
          <a:schemeClr val="lt1"/>
        </a:solidFill>
        <a:effectLst/>
      </p:bgPr>
    </p:bg>
    <p:spTree>
      <p:nvGrpSpPr>
        <p:cNvPr id="1" name="Shape 116"/>
        <p:cNvGrpSpPr/>
        <p:nvPr/>
      </p:nvGrpSpPr>
      <p:grpSpPr>
        <a:xfrm>
          <a:off x="0" y="0"/>
          <a:ext cx="0" cy="0"/>
          <a:chOff x="0" y="0"/>
          <a:chExt cx="0" cy="0"/>
        </a:xfrm>
      </p:grpSpPr>
      <p:sp>
        <p:nvSpPr>
          <p:cNvPr id="117" name="Google Shape;117;p28"/>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118" name="Google Shape;118;p28"/>
          <p:cNvPicPr preferRelativeResize="0"/>
          <p:nvPr/>
        </p:nvPicPr>
        <p:blipFill rotWithShape="1">
          <a:blip r:embed="rId2">
            <a:alphaModFix/>
          </a:blip>
          <a:srcRect/>
          <a:stretch/>
        </p:blipFill>
        <p:spPr>
          <a:xfrm>
            <a:off x="8428312" y="265252"/>
            <a:ext cx="420413" cy="447619"/>
          </a:xfrm>
          <a:prstGeom prst="rect">
            <a:avLst/>
          </a:prstGeom>
          <a:noFill/>
          <a:ln>
            <a:noFill/>
          </a:ln>
        </p:spPr>
      </p:pic>
      <p:sp>
        <p:nvSpPr>
          <p:cNvPr id="119" name="Google Shape;119;p28"/>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itlepage">
  <p:cSld name="Titlepage">
    <p:spTree>
      <p:nvGrpSpPr>
        <p:cNvPr id="1" name="Shape 120"/>
        <p:cNvGrpSpPr/>
        <p:nvPr/>
      </p:nvGrpSpPr>
      <p:grpSpPr>
        <a:xfrm>
          <a:off x="0" y="0"/>
          <a:ext cx="0" cy="0"/>
          <a:chOff x="0" y="0"/>
          <a:chExt cx="0" cy="0"/>
        </a:xfrm>
      </p:grpSpPr>
      <p:sp>
        <p:nvSpPr>
          <p:cNvPr id="121" name="Google Shape;121;p29"/>
          <p:cNvSpPr txBox="1">
            <a:spLocks noGrp="1"/>
          </p:cNvSpPr>
          <p:nvPr>
            <p:ph type="title"/>
          </p:nvPr>
        </p:nvSpPr>
        <p:spPr>
          <a:xfrm>
            <a:off x="305992"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lt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29"/>
          <p:cNvSpPr txBox="1">
            <a:spLocks noGrp="1"/>
          </p:cNvSpPr>
          <p:nvPr>
            <p:ph type="body" idx="1"/>
          </p:nvPr>
        </p:nvSpPr>
        <p:spPr>
          <a:xfrm>
            <a:off x="305992" y="4013900"/>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3" name="Google Shape;123;p29"/>
          <p:cNvSpPr txBox="1">
            <a:spLocks noGrp="1"/>
          </p:cNvSpPr>
          <p:nvPr>
            <p:ph type="body" idx="2"/>
          </p:nvPr>
        </p:nvSpPr>
        <p:spPr>
          <a:xfrm>
            <a:off x="305992" y="4252091"/>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29"/>
          <p:cNvSpPr txBox="1">
            <a:spLocks noGrp="1"/>
          </p:cNvSpPr>
          <p:nvPr>
            <p:ph type="body" idx="3"/>
          </p:nvPr>
        </p:nvSpPr>
        <p:spPr>
          <a:xfrm>
            <a:off x="305991"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lt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25" name="Google Shape;125;p29"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Titlepage white">
  <p:cSld name="Titlepage white">
    <p:bg>
      <p:bgPr>
        <a:solidFill>
          <a:schemeClr val="lt1"/>
        </a:solidFill>
        <a:effectLst/>
      </p:bgPr>
    </p:bg>
    <p:spTree>
      <p:nvGrpSpPr>
        <p:cNvPr id="1" name="Shape 126"/>
        <p:cNvGrpSpPr/>
        <p:nvPr/>
      </p:nvGrpSpPr>
      <p:grpSpPr>
        <a:xfrm>
          <a:off x="0" y="0"/>
          <a:ext cx="0" cy="0"/>
          <a:chOff x="0" y="0"/>
          <a:chExt cx="0" cy="0"/>
        </a:xfrm>
      </p:grpSpPr>
      <p:sp>
        <p:nvSpPr>
          <p:cNvPr id="127" name="Google Shape;127;p30"/>
          <p:cNvSpPr txBox="1">
            <a:spLocks noGrp="1"/>
          </p:cNvSpPr>
          <p:nvPr>
            <p:ph type="title"/>
          </p:nvPr>
        </p:nvSpPr>
        <p:spPr>
          <a:xfrm>
            <a:off x="306016"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dk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30"/>
          <p:cNvSpPr txBox="1">
            <a:spLocks noGrp="1"/>
          </p:cNvSpPr>
          <p:nvPr>
            <p:ph type="body" idx="1"/>
          </p:nvPr>
        </p:nvSpPr>
        <p:spPr>
          <a:xfrm>
            <a:off x="305992" y="4013900"/>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9" name="Google Shape;129;p30"/>
          <p:cNvSpPr txBox="1">
            <a:spLocks noGrp="1"/>
          </p:cNvSpPr>
          <p:nvPr>
            <p:ph type="body" idx="2"/>
          </p:nvPr>
        </p:nvSpPr>
        <p:spPr>
          <a:xfrm>
            <a:off x="305992" y="4252091"/>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30"/>
          <p:cNvSpPr txBox="1">
            <a:spLocks noGrp="1"/>
          </p:cNvSpPr>
          <p:nvPr>
            <p:ph type="body" idx="3"/>
          </p:nvPr>
        </p:nvSpPr>
        <p:spPr>
          <a:xfrm>
            <a:off x="306017"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31" name="Google Shape;131;p30"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Titlepage with graphic">
  <p:cSld name="Titlepage with graphic">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305992"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lt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31"/>
          <p:cNvSpPr txBox="1">
            <a:spLocks noGrp="1"/>
          </p:cNvSpPr>
          <p:nvPr>
            <p:ph type="body" idx="1"/>
          </p:nvPr>
        </p:nvSpPr>
        <p:spPr>
          <a:xfrm>
            <a:off x="305992" y="4013900"/>
            <a:ext cx="42717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5" name="Google Shape;135;p31"/>
          <p:cNvSpPr txBox="1">
            <a:spLocks noGrp="1"/>
          </p:cNvSpPr>
          <p:nvPr>
            <p:ph type="body" idx="2"/>
          </p:nvPr>
        </p:nvSpPr>
        <p:spPr>
          <a:xfrm>
            <a:off x="305992" y="4252091"/>
            <a:ext cx="42717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31"/>
          <p:cNvSpPr txBox="1">
            <a:spLocks noGrp="1"/>
          </p:cNvSpPr>
          <p:nvPr>
            <p:ph type="body" idx="3"/>
          </p:nvPr>
        </p:nvSpPr>
        <p:spPr>
          <a:xfrm>
            <a:off x="305993"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lt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37" name="Google Shape;137;p31"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
        <p:nvSpPr>
          <p:cNvPr id="138" name="Google Shape;138;p31"/>
          <p:cNvSpPr>
            <a:spLocks noGrp="1"/>
          </p:cNvSpPr>
          <p:nvPr>
            <p:ph type="pic" idx="4"/>
          </p:nvPr>
        </p:nvSpPr>
        <p:spPr>
          <a:xfrm>
            <a:off x="4842273" y="0"/>
            <a:ext cx="4301700" cy="5143500"/>
          </a:xfrm>
          <a:prstGeom prst="rect">
            <a:avLst/>
          </a:prstGeom>
          <a:noFill/>
          <a:ln>
            <a:noFill/>
          </a:ln>
        </p:spPr>
      </p:sp>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Thank you with details">
  <p:cSld name="Thank you with details">
    <p:spTree>
      <p:nvGrpSpPr>
        <p:cNvPr id="1" name="Shape 139"/>
        <p:cNvGrpSpPr/>
        <p:nvPr/>
      </p:nvGrpSpPr>
      <p:grpSpPr>
        <a:xfrm>
          <a:off x="0" y="0"/>
          <a:ext cx="0" cy="0"/>
          <a:chOff x="0" y="0"/>
          <a:chExt cx="0" cy="0"/>
        </a:xfrm>
      </p:grpSpPr>
      <p:sp>
        <p:nvSpPr>
          <p:cNvPr id="140" name="Google Shape;140;p32"/>
          <p:cNvSpPr txBox="1">
            <a:spLocks noGrp="1"/>
          </p:cNvSpPr>
          <p:nvPr>
            <p:ph type="title"/>
          </p:nvPr>
        </p:nvSpPr>
        <p:spPr>
          <a:xfrm>
            <a:off x="305992" y="2181038"/>
            <a:ext cx="4266000" cy="554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32"/>
          <p:cNvSpPr txBox="1">
            <a:spLocks noGrp="1"/>
          </p:cNvSpPr>
          <p:nvPr>
            <p:ph type="body" idx="1"/>
          </p:nvPr>
        </p:nvSpPr>
        <p:spPr>
          <a:xfrm>
            <a:off x="305991" y="2874340"/>
            <a:ext cx="4266000" cy="3693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a:lvl1pPr>
            <a:lvl2pPr marL="914400" lvl="1" indent="-342900" algn="l">
              <a:lnSpc>
                <a:spcPct val="100000"/>
              </a:lnSpc>
              <a:spcBef>
                <a:spcPts val="0"/>
              </a:spcBef>
              <a:spcAft>
                <a:spcPts val="0"/>
              </a:spcAft>
              <a:buSzPts val="1800"/>
              <a:buChar char="•"/>
              <a:defRPr/>
            </a:lvl2pPr>
            <a:lvl3pPr marL="1371600" lvl="2" indent="-342900" algn="l">
              <a:lnSpc>
                <a:spcPct val="100000"/>
              </a:lnSpc>
              <a:spcBef>
                <a:spcPts val="0"/>
              </a:spcBef>
              <a:spcAft>
                <a:spcPts val="0"/>
              </a:spcAft>
              <a:buSzPts val="1800"/>
              <a:buChar char="•"/>
              <a:defRPr/>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pic>
        <p:nvPicPr>
          <p:cNvPr id="142" name="Google Shape;142;p32"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Thank you.">
  <p:cSld name="Thank you.">
    <p:spTree>
      <p:nvGrpSpPr>
        <p:cNvPr id="1" name="Shape 143"/>
        <p:cNvGrpSpPr/>
        <p:nvPr/>
      </p:nvGrpSpPr>
      <p:grpSpPr>
        <a:xfrm>
          <a:off x="0" y="0"/>
          <a:ext cx="0" cy="0"/>
          <a:chOff x="0" y="0"/>
          <a:chExt cx="0" cy="0"/>
        </a:xfrm>
      </p:grpSpPr>
      <p:sp>
        <p:nvSpPr>
          <p:cNvPr id="144" name="Google Shape;144;p33"/>
          <p:cNvSpPr txBox="1">
            <a:spLocks noGrp="1"/>
          </p:cNvSpPr>
          <p:nvPr>
            <p:ph type="title"/>
          </p:nvPr>
        </p:nvSpPr>
        <p:spPr>
          <a:xfrm>
            <a:off x="305991" y="2735036"/>
            <a:ext cx="8532000" cy="554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sz="36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45" name="Google Shape;145;p33"/>
          <p:cNvPicPr preferRelativeResize="0"/>
          <p:nvPr/>
        </p:nvPicPr>
        <p:blipFill rotWithShape="1">
          <a:blip r:embed="rId2">
            <a:alphaModFix/>
          </a:blip>
          <a:srcRect/>
          <a:stretch/>
        </p:blipFill>
        <p:spPr>
          <a:xfrm>
            <a:off x="4223657" y="1825961"/>
            <a:ext cx="696687" cy="74177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2.png"/><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image" Target="../media/image2.png"/><Relationship Id="rId5" Type="http://schemas.openxmlformats.org/officeDocument/2006/relationships/slideLayout" Target="../slideLayouts/slideLayout26.xml"/><Relationship Id="rId10" Type="http://schemas.openxmlformats.org/officeDocument/2006/relationships/theme" Target="../theme/theme3.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6"/>
        <p:cNvGrpSpPr/>
        <p:nvPr/>
      </p:nvGrpSpPr>
      <p:grpSpPr>
        <a:xfrm>
          <a:off x="0" y="0"/>
          <a:ext cx="0" cy="0"/>
          <a:chOff x="0" y="0"/>
          <a:chExt cx="0" cy="0"/>
        </a:xfrm>
      </p:grpSpPr>
      <p:pic>
        <p:nvPicPr>
          <p:cNvPr id="57" name="Google Shape;57;p14"/>
          <p:cNvPicPr preferRelativeResize="0"/>
          <p:nvPr/>
        </p:nvPicPr>
        <p:blipFill rotWithShape="1">
          <a:blip r:embed="rId11">
            <a:alphaModFix/>
          </a:blip>
          <a:srcRect/>
          <a:stretch/>
        </p:blipFill>
        <p:spPr>
          <a:xfrm>
            <a:off x="8428312" y="265252"/>
            <a:ext cx="420413" cy="447619"/>
          </a:xfrm>
          <a:prstGeom prst="rect">
            <a:avLst/>
          </a:prstGeom>
          <a:noFill/>
          <a:ln>
            <a:noFill/>
          </a:ln>
        </p:spPr>
      </p:pic>
      <p:sp>
        <p:nvSpPr>
          <p:cNvPr id="58" name="Google Shape;58;p14"/>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SzPts val="1400"/>
              <a:buNone/>
              <a:defRPr sz="1600" b="0" i="0" u="none" strike="noStrike" cap="none">
                <a:solidFill>
                  <a:schemeClr val="lt1"/>
                </a:solidFill>
                <a:latin typeface="Poppins SemiBold"/>
                <a:ea typeface="Poppins SemiBold"/>
                <a:cs typeface="Poppins SemiBold"/>
                <a:sym typeface="Poppins SemiBold"/>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9" name="Google Shape;59;p14"/>
          <p:cNvSpPr txBox="1">
            <a:spLocks noGrp="1"/>
          </p:cNvSpPr>
          <p:nvPr>
            <p:ph type="body" idx="1"/>
          </p:nvPr>
        </p:nvSpPr>
        <p:spPr>
          <a:xfrm>
            <a:off x="305991" y="1059656"/>
            <a:ext cx="8532000" cy="3591000"/>
          </a:xfrm>
          <a:prstGeom prst="rect">
            <a:avLst/>
          </a:prstGeom>
          <a:noFill/>
          <a:ln>
            <a:noFill/>
          </a:ln>
        </p:spPr>
        <p:txBody>
          <a:bodyPr spcFirstLastPara="1" wrap="square" lIns="0" tIns="0" rIns="0" bIns="0" anchor="t" anchorCtr="0">
            <a:normAutofit/>
          </a:bodyPr>
          <a:lstStyle>
            <a:lvl1pPr marL="457200" marR="0" lvl="0"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2pPr>
            <a:lvl3pPr marL="1371600" marR="0" lvl="2"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3pPr>
            <a:lvl4pPr marL="1828800" marR="0" lvl="3"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4pPr>
            <a:lvl5pPr marL="2286000" marR="0" lvl="4"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14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marR="0" lvl="0"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3">
          <p15:clr>
            <a:srgbClr val="F26B43"/>
          </p15:clr>
        </p15:guide>
        <p15:guide id="2" pos="5567">
          <p15:clr>
            <a:srgbClr val="F26B43"/>
          </p15:clr>
        </p15:guide>
        <p15:guide id="3" orient="horz" pos="174">
          <p15:clr>
            <a:srgbClr val="F26B43"/>
          </p15:clr>
        </p15:guide>
        <p15:guide id="4" orient="horz" pos="3066">
          <p15:clr>
            <a:srgbClr val="F26B43"/>
          </p15:clr>
        </p15:guide>
        <p15:guide id="5" orient="horz" pos="2930">
          <p15:clr>
            <a:srgbClr val="F26B43"/>
          </p15:clr>
        </p15:guide>
        <p15:guide id="6" orient="horz" pos="540">
          <p15:clr>
            <a:srgbClr val="F26B43"/>
          </p15:clr>
        </p15:guide>
        <p15:guide id="7" orient="horz" pos="66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1"/>
        <p:cNvGrpSpPr/>
        <p:nvPr/>
      </p:nvGrpSpPr>
      <p:grpSpPr>
        <a:xfrm>
          <a:off x="0" y="0"/>
          <a:ext cx="0" cy="0"/>
          <a:chOff x="0" y="0"/>
          <a:chExt cx="0" cy="0"/>
        </a:xfrm>
      </p:grpSpPr>
      <p:pic>
        <p:nvPicPr>
          <p:cNvPr id="102" name="Google Shape;102;p24"/>
          <p:cNvPicPr preferRelativeResize="0"/>
          <p:nvPr/>
        </p:nvPicPr>
        <p:blipFill rotWithShape="1">
          <a:blip r:embed="rId11">
            <a:alphaModFix/>
          </a:blip>
          <a:srcRect/>
          <a:stretch/>
        </p:blipFill>
        <p:spPr>
          <a:xfrm>
            <a:off x="8428312" y="265252"/>
            <a:ext cx="420413" cy="447619"/>
          </a:xfrm>
          <a:prstGeom prst="rect">
            <a:avLst/>
          </a:prstGeom>
          <a:noFill/>
          <a:ln>
            <a:noFill/>
          </a:ln>
        </p:spPr>
      </p:pic>
      <p:sp>
        <p:nvSpPr>
          <p:cNvPr id="103" name="Google Shape;103;p24"/>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SzPts val="1400"/>
              <a:buNone/>
              <a:defRPr sz="1600" b="0" i="0" u="none" strike="noStrike" cap="none">
                <a:solidFill>
                  <a:schemeClr val="lt1"/>
                </a:solidFill>
                <a:latin typeface="Poppins SemiBold"/>
                <a:ea typeface="Poppins SemiBold"/>
                <a:cs typeface="Poppins SemiBold"/>
                <a:sym typeface="Poppins SemiBold"/>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4" name="Google Shape;104;p24"/>
          <p:cNvSpPr txBox="1">
            <a:spLocks noGrp="1"/>
          </p:cNvSpPr>
          <p:nvPr>
            <p:ph type="body" idx="1"/>
          </p:nvPr>
        </p:nvSpPr>
        <p:spPr>
          <a:xfrm>
            <a:off x="305991" y="1059656"/>
            <a:ext cx="8532000" cy="3591000"/>
          </a:xfrm>
          <a:prstGeom prst="rect">
            <a:avLst/>
          </a:prstGeom>
          <a:noFill/>
          <a:ln>
            <a:noFill/>
          </a:ln>
        </p:spPr>
        <p:txBody>
          <a:bodyPr spcFirstLastPara="1" wrap="square" lIns="0" tIns="0" rIns="0" bIns="0" anchor="t" anchorCtr="0">
            <a:normAutofit/>
          </a:bodyPr>
          <a:lstStyle>
            <a:lvl1pPr marL="457200" marR="0" lvl="0"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2pPr>
            <a:lvl3pPr marL="1371600" marR="0" lvl="2"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3pPr>
            <a:lvl4pPr marL="1828800" marR="0" lvl="3"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4pPr>
            <a:lvl5pPr marL="2286000" marR="0" lvl="4"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14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5" name="Google Shape;105;p24"/>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marR="0" lvl="0"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3">
          <p15:clr>
            <a:srgbClr val="F26B43"/>
          </p15:clr>
        </p15:guide>
        <p15:guide id="2" pos="5567">
          <p15:clr>
            <a:srgbClr val="F26B43"/>
          </p15:clr>
        </p15:guide>
        <p15:guide id="3" orient="horz" pos="174">
          <p15:clr>
            <a:srgbClr val="F26B43"/>
          </p15:clr>
        </p15:guide>
        <p15:guide id="4" orient="horz" pos="3066">
          <p15:clr>
            <a:srgbClr val="F26B43"/>
          </p15:clr>
        </p15:guide>
        <p15:guide id="5" orient="horz" pos="2930">
          <p15:clr>
            <a:srgbClr val="F26B43"/>
          </p15:clr>
        </p15:guide>
        <p15:guide id="6" orient="horz" pos="540">
          <p15:clr>
            <a:srgbClr val="F26B43"/>
          </p15:clr>
        </p15:guide>
        <p15:guide id="7" orient="horz" pos="66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varunsinghal2006@gmail.com"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hyperlink" Target="mailto:ied10021.24@bitmesra.ac.i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4"/>
          <p:cNvSpPr txBox="1">
            <a:spLocks noGrp="1"/>
          </p:cNvSpPr>
          <p:nvPr>
            <p:ph type="title"/>
          </p:nvPr>
        </p:nvSpPr>
        <p:spPr>
          <a:xfrm>
            <a:off x="305992" y="1337057"/>
            <a:ext cx="8531700" cy="1169700"/>
          </a:xfrm>
          <a:prstGeom prst="rect">
            <a:avLst/>
          </a:prstGeom>
          <a:noFill/>
          <a:ln>
            <a:noFill/>
          </a:ln>
        </p:spPr>
        <p:txBody>
          <a:bodyPr spcFirstLastPara="1" wrap="square" lIns="0" tIns="0" rIns="0" bIns="0" anchor="b" anchorCtr="0">
            <a:spAutoFit/>
          </a:bodyPr>
          <a:lstStyle/>
          <a:p>
            <a:pPr marL="0" lvl="0" indent="0" algn="l" rtl="0">
              <a:lnSpc>
                <a:spcPct val="100000"/>
              </a:lnSpc>
              <a:spcBef>
                <a:spcPts val="0"/>
              </a:spcBef>
              <a:spcAft>
                <a:spcPts val="0"/>
              </a:spcAft>
              <a:buSzPts val="4400"/>
              <a:buNone/>
            </a:pPr>
            <a:r>
              <a:rPr lang="en" sz="3800" b="0" dirty="0"/>
              <a:t>Sustainability Capstone:</a:t>
            </a:r>
            <a:endParaRPr sz="3800" b="0" dirty="0"/>
          </a:p>
          <a:p>
            <a:pPr marL="0" lvl="0" indent="0" algn="l" rtl="0">
              <a:lnSpc>
                <a:spcPct val="100000"/>
              </a:lnSpc>
              <a:spcBef>
                <a:spcPts val="0"/>
              </a:spcBef>
              <a:spcAft>
                <a:spcPts val="0"/>
              </a:spcAft>
              <a:buSzPts val="4400"/>
              <a:buNone/>
            </a:pPr>
            <a:r>
              <a:rPr lang="en" sz="3800" b="0" dirty="0"/>
              <a:t>Decarbonising Travel</a:t>
            </a:r>
            <a:endParaRPr sz="3800" b="0" dirty="0"/>
          </a:p>
        </p:txBody>
      </p:sp>
      <p:sp>
        <p:nvSpPr>
          <p:cNvPr id="151" name="Google Shape;151;p34"/>
          <p:cNvSpPr txBox="1">
            <a:spLocks noGrp="1"/>
          </p:cNvSpPr>
          <p:nvPr>
            <p:ph type="body" idx="1"/>
          </p:nvPr>
        </p:nvSpPr>
        <p:spPr>
          <a:xfrm>
            <a:off x="305991" y="3706100"/>
            <a:ext cx="6265793" cy="1107996"/>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200"/>
              <a:buNone/>
            </a:pPr>
            <a:r>
              <a:rPr lang="en" dirty="0"/>
              <a:t>Speaker name:</a:t>
            </a:r>
            <a:r>
              <a:rPr lang="en-IN" dirty="0"/>
              <a:t> Varun Singhal</a:t>
            </a:r>
            <a:endParaRPr dirty="0"/>
          </a:p>
          <a:p>
            <a:pPr marL="0" lvl="0" indent="0" algn="l" rtl="0">
              <a:lnSpc>
                <a:spcPct val="100000"/>
              </a:lnSpc>
              <a:spcBef>
                <a:spcPts val="0"/>
              </a:spcBef>
              <a:spcAft>
                <a:spcPts val="0"/>
              </a:spcAft>
              <a:buSzPts val="1200"/>
              <a:buNone/>
            </a:pPr>
            <a:r>
              <a:rPr lang="en" dirty="0"/>
              <a:t>Institute: Birla Institute of Technology, Mesra</a:t>
            </a:r>
            <a:endParaRPr dirty="0"/>
          </a:p>
          <a:p>
            <a:pPr marL="0" lvl="0" indent="0" algn="l" rtl="0">
              <a:lnSpc>
                <a:spcPct val="100000"/>
              </a:lnSpc>
              <a:spcBef>
                <a:spcPts val="0"/>
              </a:spcBef>
              <a:spcAft>
                <a:spcPts val="0"/>
              </a:spcAft>
              <a:buSzPts val="1200"/>
              <a:buNone/>
            </a:pPr>
            <a:r>
              <a:rPr lang="en" dirty="0"/>
              <a:t>Branch &amp; Year of Study: 2 Year</a:t>
            </a:r>
            <a:endParaRPr dirty="0"/>
          </a:p>
          <a:p>
            <a:pPr marL="0" lvl="0" indent="0" algn="l" rtl="0">
              <a:lnSpc>
                <a:spcPct val="100000"/>
              </a:lnSpc>
              <a:spcBef>
                <a:spcPts val="0"/>
              </a:spcBef>
              <a:spcAft>
                <a:spcPts val="0"/>
              </a:spcAft>
              <a:buSzPts val="1200"/>
              <a:buNone/>
            </a:pPr>
            <a:r>
              <a:rPr lang="en" dirty="0"/>
              <a:t>Email ID: </a:t>
            </a:r>
            <a:r>
              <a:rPr lang="en" dirty="0">
                <a:hlinkClick r:id="rId3"/>
              </a:rPr>
              <a:t>varunsinghal2006@gmail.com</a:t>
            </a:r>
            <a:r>
              <a:rPr lang="en" dirty="0"/>
              <a:t>   </a:t>
            </a:r>
            <a:r>
              <a:rPr lang="en" dirty="0">
                <a:hlinkClick r:id="rId4"/>
              </a:rPr>
              <a:t>ied10021.24@bitmesra.ac.in</a:t>
            </a:r>
            <a:br>
              <a:rPr lang="en" dirty="0"/>
            </a:br>
            <a:r>
              <a:rPr lang="en" dirty="0"/>
              <a:t>                </a:t>
            </a:r>
            <a:endParaRPr dirty="0"/>
          </a:p>
          <a:p>
            <a:pPr marL="0" lvl="0" indent="0" algn="l" rtl="0">
              <a:lnSpc>
                <a:spcPct val="100000"/>
              </a:lnSpc>
              <a:spcBef>
                <a:spcPts val="0"/>
              </a:spcBef>
              <a:spcAft>
                <a:spcPts val="0"/>
              </a:spcAft>
              <a:buSzPts val="1200"/>
              <a:buNone/>
            </a:pPr>
            <a:endParaRPr dirty="0"/>
          </a:p>
        </p:txBody>
      </p:sp>
      <p:sp>
        <p:nvSpPr>
          <p:cNvPr id="152" name="Google Shape;152;p34"/>
          <p:cNvSpPr txBox="1">
            <a:spLocks noGrp="1"/>
          </p:cNvSpPr>
          <p:nvPr>
            <p:ph type="body" idx="3"/>
          </p:nvPr>
        </p:nvSpPr>
        <p:spPr>
          <a:xfrm>
            <a:off x="305991" y="2808542"/>
            <a:ext cx="4266000" cy="738664"/>
          </a:xfrm>
          <a:prstGeom prst="rect">
            <a:avLst/>
          </a:prstGeom>
          <a:noFill/>
          <a:ln>
            <a:noFill/>
          </a:ln>
        </p:spPr>
        <p:txBody>
          <a:bodyPr spcFirstLastPara="1" wrap="square" lIns="0" tIns="0" rIns="0" bIns="0" anchor="t" anchorCtr="0">
            <a:spAutoFit/>
          </a:bodyPr>
          <a:lstStyle/>
          <a:p>
            <a:pPr marL="0" lvl="0" indent="0"/>
            <a:r>
              <a:rPr lang="en-IN" dirty="0"/>
              <a:t>A data-driven roadmap to cut business travel emissions using </a:t>
            </a:r>
            <a:r>
              <a:rPr lang="en-IN" dirty="0" err="1"/>
              <a:t>Celonis</a:t>
            </a:r>
            <a:r>
              <a:rPr lang="en-IN" dirty="0"/>
              <a:t> Process Intelligence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5"/>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dirty="0"/>
              <a:t>Executive Summary</a:t>
            </a:r>
            <a:endParaRPr dirty="0"/>
          </a:p>
        </p:txBody>
      </p:sp>
      <p:sp>
        <p:nvSpPr>
          <p:cNvPr id="158" name="Google Shape;158;p35"/>
          <p:cNvSpPr txBox="1"/>
          <p:nvPr/>
        </p:nvSpPr>
        <p:spPr>
          <a:xfrm>
            <a:off x="700668" y="1696247"/>
            <a:ext cx="2327165" cy="502445"/>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1200"/>
              </a:spcAft>
              <a:buNone/>
            </a:pPr>
            <a:r>
              <a:rPr lang="en" sz="1100" dirty="0">
                <a:solidFill>
                  <a:schemeClr val="dk1"/>
                </a:solidFill>
                <a:latin typeface="Poppins"/>
                <a:ea typeface="Poppins"/>
                <a:cs typeface="Poppins"/>
                <a:sym typeface="Poppins"/>
              </a:rPr>
              <a:t> </a:t>
            </a:r>
          </a:p>
        </p:txBody>
      </p:sp>
      <p:sp>
        <p:nvSpPr>
          <p:cNvPr id="3" name="Rectangle: Rounded Corners 2">
            <a:extLst>
              <a:ext uri="{FF2B5EF4-FFF2-40B4-BE49-F238E27FC236}">
                <a16:creationId xmlns:a16="http://schemas.microsoft.com/office/drawing/2014/main" id="{6B0844E7-CD7E-FBC9-330E-58160827B1EF}"/>
              </a:ext>
            </a:extLst>
          </p:cNvPr>
          <p:cNvSpPr/>
          <p:nvPr/>
        </p:nvSpPr>
        <p:spPr>
          <a:xfrm>
            <a:off x="353677" y="847493"/>
            <a:ext cx="2880177"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AE485476-49CA-4E02-7964-41DC0AD3CF4A}"/>
              </a:ext>
            </a:extLst>
          </p:cNvPr>
          <p:cNvSpPr/>
          <p:nvPr/>
        </p:nvSpPr>
        <p:spPr>
          <a:xfrm>
            <a:off x="3479180" y="847493"/>
            <a:ext cx="2639123"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C7C0FA60-079D-D198-EBE7-3A0B20497C7C}"/>
              </a:ext>
            </a:extLst>
          </p:cNvPr>
          <p:cNvSpPr/>
          <p:nvPr/>
        </p:nvSpPr>
        <p:spPr>
          <a:xfrm>
            <a:off x="6363630" y="847493"/>
            <a:ext cx="2639122" cy="3888057"/>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6673242-12DC-0D50-0AEB-2CE702A20BA6}"/>
              </a:ext>
            </a:extLst>
          </p:cNvPr>
          <p:cNvSpPr txBox="1"/>
          <p:nvPr/>
        </p:nvSpPr>
        <p:spPr>
          <a:xfrm>
            <a:off x="535163" y="1791415"/>
            <a:ext cx="2327165" cy="2246769"/>
          </a:xfrm>
          <a:prstGeom prst="rect">
            <a:avLst/>
          </a:prstGeom>
          <a:noFill/>
        </p:spPr>
        <p:txBody>
          <a:bodyPr wrap="square" rtlCol="0">
            <a:spAutoFit/>
          </a:bodyPr>
          <a:lstStyle/>
          <a:p>
            <a:pPr marL="171450" indent="-171450">
              <a:buFont typeface="Arial" panose="020B0604020202020204" pitchFamily="34" charset="0"/>
              <a:buChar char="•"/>
            </a:pPr>
            <a:r>
              <a:rPr lang="en-IN" sz="1000" dirty="0"/>
              <a:t>Oceania is your single highest-emitting region despite being one country — a concentration risk, not a spread-out problem</a:t>
            </a:r>
          </a:p>
          <a:p>
            <a:pPr marL="171450" indent="-171450">
              <a:buFont typeface="Arial" panose="020B0604020202020204" pitchFamily="34" charset="0"/>
              <a:buChar char="•"/>
            </a:pPr>
            <a:endParaRPr lang="en-IN" sz="1000" dirty="0"/>
          </a:p>
          <a:p>
            <a:pPr marL="171450" indent="-171450">
              <a:buFont typeface="Arial" panose="020B0604020202020204" pitchFamily="34" charset="0"/>
              <a:buChar char="•"/>
            </a:pPr>
            <a:r>
              <a:rPr lang="en-IN" sz="1000" dirty="0"/>
              <a:t> Sales and Value Engineering drive the most emissions by Business Unit </a:t>
            </a:r>
          </a:p>
          <a:p>
            <a:pPr marL="171450" indent="-171450">
              <a:buFont typeface="Arial" panose="020B0604020202020204" pitchFamily="34" charset="0"/>
              <a:buChar char="•"/>
            </a:pPr>
            <a:endParaRPr lang="en-IN" sz="1000" dirty="0"/>
          </a:p>
          <a:p>
            <a:pPr marL="171450" indent="-171450">
              <a:buFont typeface="Arial" panose="020B0604020202020204" pitchFamily="34" charset="0"/>
              <a:buChar char="•"/>
            </a:pPr>
            <a:r>
              <a:rPr lang="en-IN" sz="1000" dirty="0"/>
              <a:t>Only 46% of trips go straight from confirmation to departure — 54% deviate through </a:t>
            </a:r>
            <a:r>
              <a:rPr lang="en-IN" sz="1000" dirty="0" err="1"/>
              <a:t>rebookings</a:t>
            </a:r>
            <a:r>
              <a:rPr lang="en-IN" sz="1000" dirty="0"/>
              <a:t>/delays, adding a median ~19 extra days per trip</a:t>
            </a:r>
          </a:p>
        </p:txBody>
      </p:sp>
      <p:sp>
        <p:nvSpPr>
          <p:cNvPr id="2" name="TextBox 9">
            <a:extLst>
              <a:ext uri="{FF2B5EF4-FFF2-40B4-BE49-F238E27FC236}">
                <a16:creationId xmlns:a16="http://schemas.microsoft.com/office/drawing/2014/main" id="{96673242-12DC-0D50-0AEB-2CE702A20BA6}"/>
              </a:ext>
            </a:extLst>
          </p:cNvPr>
          <p:cNvSpPr txBox="1"/>
          <p:nvPr/>
        </p:nvSpPr>
        <p:spPr>
          <a:xfrm>
            <a:off x="3660666" y="1791415"/>
            <a:ext cx="2327165" cy="2246769"/>
          </a:xfrm>
          <a:prstGeom prst="rect">
            <a:avLst/>
          </a:prstGeom>
          <a:noFill/>
        </p:spPr>
        <p:txBody>
          <a:bodyPr wrap="square" rtlCol="0">
            <a:spAutoFit/>
          </a:bodyPr>
          <a:lstStyle/>
          <a:p>
            <a:pPr marL="171450" indent="-171450">
              <a:buFont typeface="Arial" panose="020B0604020202020204" pitchFamily="34" charset="0"/>
              <a:buChar char="•"/>
            </a:pPr>
            <a:r>
              <a:rPr lang="en-IN" sz="1000" dirty="0"/>
              <a:t>Shift short-haul Air travel to Rail — an 87% emissions cut per trip, primarily targeting domestic flight routes.</a:t>
            </a:r>
          </a:p>
          <a:p>
            <a:pPr marL="171450" indent="-171450">
              <a:buFont typeface="Arial" panose="020B0604020202020204" pitchFamily="34" charset="0"/>
              <a:buChar char="•"/>
            </a:pPr>
            <a:endParaRPr lang="en-IN" sz="1000" dirty="0"/>
          </a:p>
          <a:p>
            <a:pPr marL="171450" indent="-171450">
              <a:buFont typeface="Arial" panose="020B0604020202020204" pitchFamily="34" charset="0"/>
              <a:buChar char="•"/>
            </a:pPr>
            <a:r>
              <a:rPr lang="en-IN" sz="1000" dirty="0"/>
              <a:t>Tighten approval-to-booking lead time to close the 43.5% emissions premium on out-of-policy trips (~12,000 trips/year).</a:t>
            </a:r>
          </a:p>
          <a:p>
            <a:pPr marL="171450" indent="-171450">
              <a:buFont typeface="Arial" panose="020B0604020202020204" pitchFamily="34" charset="0"/>
              <a:buChar char="•"/>
            </a:pPr>
            <a:endParaRPr lang="en-IN" sz="1000" dirty="0"/>
          </a:p>
          <a:p>
            <a:pPr marL="171450" indent="-171450">
              <a:buFont typeface="Arial" panose="020B0604020202020204" pitchFamily="34" charset="0"/>
              <a:buChar char="•"/>
            </a:pPr>
            <a:r>
              <a:rPr lang="en-IN" sz="1000" dirty="0"/>
              <a:t>Introduce a virtual-first policy for Oceania-based Sales customer visits, avoiding an estimated 3,261 tonnes CO2e annually.</a:t>
            </a:r>
          </a:p>
        </p:txBody>
      </p:sp>
      <p:sp>
        <p:nvSpPr>
          <p:cNvPr id="12" name="TextBox 11">
            <a:extLst>
              <a:ext uri="{FF2B5EF4-FFF2-40B4-BE49-F238E27FC236}">
                <a16:creationId xmlns:a16="http://schemas.microsoft.com/office/drawing/2014/main" id="{DDFE59F5-CB03-6F61-5993-27BD39259938}"/>
              </a:ext>
            </a:extLst>
          </p:cNvPr>
          <p:cNvSpPr txBox="1"/>
          <p:nvPr/>
        </p:nvSpPr>
        <p:spPr>
          <a:xfrm>
            <a:off x="6459413" y="1560414"/>
            <a:ext cx="2447555" cy="2354491"/>
          </a:xfrm>
          <a:prstGeom prst="rect">
            <a:avLst/>
          </a:prstGeom>
          <a:noFill/>
        </p:spPr>
        <p:txBody>
          <a:bodyPr wrap="square" rtlCol="0">
            <a:spAutoFit/>
          </a:bodyPr>
          <a:lstStyle/>
          <a:p>
            <a:endParaRPr lang="en-IN" sz="1050" b="1" dirty="0"/>
          </a:p>
          <a:p>
            <a:endParaRPr lang="en-IN" sz="1050" b="1" dirty="0"/>
          </a:p>
          <a:p>
            <a:endParaRPr lang="en-IN" sz="1050" b="1" dirty="0"/>
          </a:p>
          <a:p>
            <a:r>
              <a:rPr lang="en-IN" sz="1050" dirty="0"/>
              <a:t> Business travel is </a:t>
            </a:r>
            <a:r>
              <a:rPr lang="en-IN" sz="1050" dirty="0" err="1"/>
              <a:t>Celonis</a:t>
            </a:r>
            <a:r>
              <a:rPr lang="en-IN" sz="1050" dirty="0"/>
              <a:t>' largest source of Scope 3 emissions and one of the hardest categories to decarbonize, since it's driven by individual booking decisions rather than fixed infrastructure. Closing the gap between "policy" and "practice" — visible directly in our 18% out-of-policy rate and the 54% process deviation rate — is the fastest lever available before 2030.</a:t>
            </a:r>
          </a:p>
        </p:txBody>
      </p:sp>
      <p:sp>
        <p:nvSpPr>
          <p:cNvPr id="14" name="Google Shape;158;p35">
            <a:extLst>
              <a:ext uri="{FF2B5EF4-FFF2-40B4-BE49-F238E27FC236}">
                <a16:creationId xmlns:a16="http://schemas.microsoft.com/office/drawing/2014/main" id="{90E04172-C95D-C352-6F4A-3D8F66594196}"/>
              </a:ext>
            </a:extLst>
          </p:cNvPr>
          <p:cNvSpPr txBox="1"/>
          <p:nvPr/>
        </p:nvSpPr>
        <p:spPr>
          <a:xfrm>
            <a:off x="535163" y="1105316"/>
            <a:ext cx="2327165" cy="590931"/>
          </a:xfrm>
          <a:prstGeom prst="rect">
            <a:avLst/>
          </a:prstGeom>
          <a:noFill/>
          <a:ln>
            <a:noFill/>
          </a:ln>
        </p:spPr>
        <p:txBody>
          <a:bodyPr spcFirstLastPara="1" wrap="square" lIns="0" tIns="0" rIns="0" bIns="0" anchor="t" anchorCtr="0">
            <a:spAutoFit/>
          </a:bodyPr>
          <a:lstStyle/>
          <a:p>
            <a:pPr lvl="0" algn="ctr">
              <a:lnSpc>
                <a:spcPct val="115000"/>
              </a:lnSpc>
              <a:spcBef>
                <a:spcPts val="1200"/>
              </a:spcBef>
              <a:spcAft>
                <a:spcPts val="1200"/>
              </a:spcAft>
            </a:pPr>
            <a:r>
              <a:rPr lang="en-IN" sz="1600" b="1" dirty="0"/>
              <a:t>Results at a Glance</a:t>
            </a:r>
            <a:endParaRPr lang="en" sz="1600" b="1" dirty="0">
              <a:solidFill>
                <a:schemeClr val="dk1"/>
              </a:solidFill>
              <a:latin typeface="Poppins"/>
              <a:ea typeface="Poppins"/>
              <a:cs typeface="Poppins"/>
              <a:sym typeface="Poppins"/>
            </a:endParaRPr>
          </a:p>
        </p:txBody>
      </p:sp>
      <p:sp>
        <p:nvSpPr>
          <p:cNvPr id="16" name="Google Shape;158;p35">
            <a:extLst>
              <a:ext uri="{FF2B5EF4-FFF2-40B4-BE49-F238E27FC236}">
                <a16:creationId xmlns:a16="http://schemas.microsoft.com/office/drawing/2014/main" id="{3072D105-BA90-B31B-163B-8CDDB9231FF7}"/>
              </a:ext>
            </a:extLst>
          </p:cNvPr>
          <p:cNvSpPr txBox="1"/>
          <p:nvPr/>
        </p:nvSpPr>
        <p:spPr>
          <a:xfrm>
            <a:off x="3575987" y="1123012"/>
            <a:ext cx="2311693" cy="555537"/>
          </a:xfrm>
          <a:prstGeom prst="rect">
            <a:avLst/>
          </a:prstGeom>
          <a:noFill/>
          <a:ln>
            <a:noFill/>
          </a:ln>
        </p:spPr>
        <p:txBody>
          <a:bodyPr spcFirstLastPara="1" wrap="square" lIns="0" tIns="0" rIns="0" bIns="0" anchor="t" anchorCtr="0">
            <a:spAutoFit/>
          </a:bodyPr>
          <a:lstStyle/>
          <a:p>
            <a:pPr lvl="0" algn="ctr">
              <a:lnSpc>
                <a:spcPct val="115000"/>
              </a:lnSpc>
              <a:spcBef>
                <a:spcPts val="1200"/>
              </a:spcBef>
              <a:spcAft>
                <a:spcPts val="1200"/>
              </a:spcAft>
            </a:pPr>
            <a:r>
              <a:rPr lang="en-IN" b="1" dirty="0"/>
              <a:t>Top 3 Recommendations</a:t>
            </a:r>
            <a:endParaRPr lang="en" b="1" dirty="0">
              <a:solidFill>
                <a:schemeClr val="dk1"/>
              </a:solidFill>
              <a:latin typeface="Poppins"/>
              <a:ea typeface="Poppins"/>
              <a:cs typeface="Poppins"/>
              <a:sym typeface="Poppins"/>
            </a:endParaRPr>
          </a:p>
        </p:txBody>
      </p:sp>
      <p:sp>
        <p:nvSpPr>
          <p:cNvPr id="4" name="TextBox 3">
            <a:extLst>
              <a:ext uri="{FF2B5EF4-FFF2-40B4-BE49-F238E27FC236}">
                <a16:creationId xmlns:a16="http://schemas.microsoft.com/office/drawing/2014/main" id="{A45F4885-48AD-B780-F082-18E411BD44EF}"/>
              </a:ext>
            </a:extLst>
          </p:cNvPr>
          <p:cNvSpPr txBox="1"/>
          <p:nvPr/>
        </p:nvSpPr>
        <p:spPr>
          <a:xfrm>
            <a:off x="6582659" y="1202013"/>
            <a:ext cx="2201062" cy="523220"/>
          </a:xfrm>
          <a:prstGeom prst="rect">
            <a:avLst/>
          </a:prstGeom>
          <a:noFill/>
        </p:spPr>
        <p:txBody>
          <a:bodyPr wrap="square">
            <a:spAutoFit/>
          </a:bodyPr>
          <a:lstStyle/>
          <a:p>
            <a:r>
              <a:rPr lang="en-IN" b="1" dirty="0"/>
              <a:t>Why this matters for 2030:</a:t>
            </a:r>
          </a:p>
        </p:txBody>
      </p:sp>
      <p:sp>
        <p:nvSpPr>
          <p:cNvPr id="6" name="TextBox 5">
            <a:extLst>
              <a:ext uri="{FF2B5EF4-FFF2-40B4-BE49-F238E27FC236}">
                <a16:creationId xmlns:a16="http://schemas.microsoft.com/office/drawing/2014/main" id="{34E4BD67-4770-07D7-C437-C828A7F67FEF}"/>
              </a:ext>
            </a:extLst>
          </p:cNvPr>
          <p:cNvSpPr txBox="1"/>
          <p:nvPr/>
        </p:nvSpPr>
        <p:spPr>
          <a:xfrm>
            <a:off x="2497873" y="223024"/>
            <a:ext cx="5880410" cy="430887"/>
          </a:xfrm>
          <a:prstGeom prst="rect">
            <a:avLst/>
          </a:prstGeom>
          <a:noFill/>
        </p:spPr>
        <p:txBody>
          <a:bodyPr wrap="square" rtlCol="0">
            <a:spAutoFit/>
          </a:bodyPr>
          <a:lstStyle/>
          <a:p>
            <a:r>
              <a:rPr lang="en-IN" sz="1100" dirty="0" err="1"/>
              <a:t>Celonis</a:t>
            </a:r>
            <a:r>
              <a:rPr lang="en-IN" sz="1100" dirty="0"/>
              <a:t>' fictional travel program generated </a:t>
            </a:r>
            <a:r>
              <a:rPr lang="en-IN" sz="1100" b="1" dirty="0"/>
              <a:t>178,090 tonnes of CO2e</a:t>
            </a:r>
            <a:r>
              <a:rPr lang="en-IN" sz="1100" dirty="0"/>
              <a:t> across </a:t>
            </a:r>
            <a:r>
              <a:rPr lang="en-IN" sz="1100" b="1" dirty="0"/>
              <a:t>65,289 trips</a:t>
            </a:r>
            <a:r>
              <a:rPr lang="en-IN" sz="1100" dirty="0"/>
              <a:t> last year, at a total spend of </a:t>
            </a:r>
            <a:r>
              <a:rPr lang="en-IN" sz="1100" b="1" dirty="0"/>
              <a:t>$140.5M</a:t>
            </a:r>
            <a:r>
              <a:rPr lang="en-IN" sz="1100" dirty="0"/>
              <a:t> — with </a:t>
            </a:r>
            <a:r>
              <a:rPr lang="en-IN" sz="1100" b="1" dirty="0"/>
              <a:t>18% of trips booked out of policy</a:t>
            </a:r>
            <a:r>
              <a:rPr lang="en-IN" sz="11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6"/>
          <p:cNvSpPr txBox="1">
            <a:spLocks noGrp="1"/>
          </p:cNvSpPr>
          <p:nvPr>
            <p:ph type="title"/>
          </p:nvPr>
        </p:nvSpPr>
        <p:spPr>
          <a:xfrm>
            <a:off x="305991" y="277728"/>
            <a:ext cx="7945500" cy="276999"/>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800"/>
              <a:t>Emissions Profile and Benchmarking</a:t>
            </a:r>
            <a:endParaRPr sz="1800"/>
          </a:p>
        </p:txBody>
      </p:sp>
      <p:sp>
        <p:nvSpPr>
          <p:cNvPr id="3" name="Rectangle: Rounded Corners 2">
            <a:extLst>
              <a:ext uri="{FF2B5EF4-FFF2-40B4-BE49-F238E27FC236}">
                <a16:creationId xmlns:a16="http://schemas.microsoft.com/office/drawing/2014/main" id="{135BC0D2-05E4-6584-FD73-3285B4945BCA}"/>
              </a:ext>
            </a:extLst>
          </p:cNvPr>
          <p:cNvSpPr/>
          <p:nvPr/>
        </p:nvSpPr>
        <p:spPr>
          <a:xfrm>
            <a:off x="208156" y="892098"/>
            <a:ext cx="3382538" cy="1077951"/>
          </a:xfrm>
          <a:prstGeom prst="roundRect">
            <a:avLst/>
          </a:prstGeom>
          <a:solidFill>
            <a:srgbClr val="FFFFF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rPr>
              <a:t>Current Footprint</a:t>
            </a:r>
            <a:r>
              <a:rPr lang="en-IN" sz="1200" dirty="0">
                <a:solidFill>
                  <a:schemeClr val="tx1"/>
                </a:solidFill>
              </a:rPr>
              <a:t>: 178,090 tonnes CO2e across 65,289 trips ($140.5M total spend)</a:t>
            </a:r>
            <a:endParaRPr lang="en-US" sz="1200" dirty="0">
              <a:solidFill>
                <a:schemeClr val="tx1"/>
              </a:solidFill>
            </a:endParaRPr>
          </a:p>
        </p:txBody>
      </p:sp>
      <p:sp>
        <p:nvSpPr>
          <p:cNvPr id="5" name="Rectangle: Rounded Corners 4">
            <a:extLst>
              <a:ext uri="{FF2B5EF4-FFF2-40B4-BE49-F238E27FC236}">
                <a16:creationId xmlns:a16="http://schemas.microsoft.com/office/drawing/2014/main" id="{037D0610-556E-141A-6167-8E1022C6276F}"/>
              </a:ext>
            </a:extLst>
          </p:cNvPr>
          <p:cNvSpPr/>
          <p:nvPr/>
        </p:nvSpPr>
        <p:spPr>
          <a:xfrm>
            <a:off x="208156" y="2307420"/>
            <a:ext cx="3382538" cy="1077951"/>
          </a:xfrm>
          <a:prstGeom prst="roundRect">
            <a:avLst/>
          </a:prstGeom>
          <a:solidFill>
            <a:srgbClr val="FFFFF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rPr>
              <a:t>By Travel Mode</a:t>
            </a:r>
            <a:r>
              <a:rPr lang="en-IN" sz="1200" dirty="0">
                <a:solidFill>
                  <a:schemeClr val="tx1"/>
                </a:solidFill>
              </a:rPr>
              <a:t>: Air travel is the dominant emissions source, far exceeding Road/Car and Rail combined.</a:t>
            </a:r>
            <a:endParaRPr lang="en-US" sz="1200" dirty="0">
              <a:solidFill>
                <a:schemeClr val="tx1"/>
              </a:solidFill>
            </a:endParaRPr>
          </a:p>
        </p:txBody>
      </p:sp>
      <p:sp>
        <p:nvSpPr>
          <p:cNvPr id="7" name="Rectangle: Rounded Corners 6">
            <a:extLst>
              <a:ext uri="{FF2B5EF4-FFF2-40B4-BE49-F238E27FC236}">
                <a16:creationId xmlns:a16="http://schemas.microsoft.com/office/drawing/2014/main" id="{D6035E84-9039-6A2F-89BC-D1C2BB0A43E7}"/>
              </a:ext>
            </a:extLst>
          </p:cNvPr>
          <p:cNvSpPr/>
          <p:nvPr/>
        </p:nvSpPr>
        <p:spPr>
          <a:xfrm>
            <a:off x="208156" y="3722742"/>
            <a:ext cx="3382538" cy="1077951"/>
          </a:xfrm>
          <a:prstGeom prst="roundRect">
            <a:avLst/>
          </a:prstGeom>
          <a:solidFill>
            <a:srgbClr val="FFFFF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b="1" dirty="0">
                <a:solidFill>
                  <a:schemeClr val="tx1"/>
                </a:solidFill>
              </a:rPr>
              <a:t>By Region</a:t>
            </a:r>
            <a:r>
              <a:rPr lang="en-IN" sz="1200" dirty="0">
                <a:solidFill>
                  <a:schemeClr val="tx1"/>
                </a:solidFill>
              </a:rPr>
              <a:t>: Oceania &gt; South America &gt; Asia &gt; North America &gt; Europe &gt; Africa</a:t>
            </a:r>
            <a:endParaRPr lang="en-US" sz="1200" dirty="0">
              <a:solidFill>
                <a:schemeClr val="tx1"/>
              </a:solidFill>
            </a:endParaRPr>
          </a:p>
        </p:txBody>
      </p:sp>
      <p:sp>
        <p:nvSpPr>
          <p:cNvPr id="11" name="Rectangle: Rounded Corners 10">
            <a:extLst>
              <a:ext uri="{FF2B5EF4-FFF2-40B4-BE49-F238E27FC236}">
                <a16:creationId xmlns:a16="http://schemas.microsoft.com/office/drawing/2014/main" id="{8E633D7F-ED28-58E8-B293-D479DB22B5A6}"/>
              </a:ext>
            </a:extLst>
          </p:cNvPr>
          <p:cNvSpPr/>
          <p:nvPr/>
        </p:nvSpPr>
        <p:spPr>
          <a:xfrm>
            <a:off x="3821153" y="765253"/>
            <a:ext cx="4824759" cy="3107937"/>
          </a:xfrm>
          <a:prstGeom prst="round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IN" sz="1200" b="1" dirty="0">
                <a:solidFill>
                  <a:schemeClr val="tx1"/>
                </a:solidFill>
              </a:rPr>
              <a:t>Industry Context</a:t>
            </a:r>
            <a:r>
              <a:rPr lang="en-IN" sz="1200" dirty="0">
                <a:solidFill>
                  <a:schemeClr val="tx1"/>
                </a:solidFill>
              </a:rPr>
              <a:t>:</a:t>
            </a:r>
          </a:p>
          <a:p>
            <a:endParaRPr lang="en-IN" sz="1200" dirty="0">
              <a:solidFill>
                <a:schemeClr val="tx1"/>
              </a:solidFill>
            </a:endParaRPr>
          </a:p>
          <a:p>
            <a:r>
              <a:rPr lang="en-IN" sz="1200" dirty="0">
                <a:solidFill>
                  <a:schemeClr val="tx1"/>
                </a:solidFill>
              </a:rPr>
              <a:t> Business travel is classified as Scope 3, Category 6 under the GHG Protocol Corporate Value Chain Standard — the same framework used across the industry for corporate carbon accounting, meaning our findings are directly comparable to peer benchmarks. </a:t>
            </a:r>
          </a:p>
          <a:p>
            <a:endParaRPr lang="en-IN" sz="1200" dirty="0">
              <a:solidFill>
                <a:schemeClr val="tx1"/>
              </a:solidFill>
            </a:endParaRPr>
          </a:p>
          <a:p>
            <a:r>
              <a:rPr lang="en-IN" sz="1200" dirty="0">
                <a:solidFill>
                  <a:schemeClr val="tx1"/>
                </a:solidFill>
              </a:rPr>
              <a:t>Separately, business-class seating is commonly cited as carrying a carbon footprint up to 3x larger than economy for the same route (World Bank analysis). Our own data shows Business Class trips average 4,865 kg CO2e versus 2,555 kg CO2e for Economy — a 1.9x ratio, directionally consistent with, though somewhat lower than, the World Bank benchmark.</a:t>
            </a:r>
            <a:endParaRPr lang="en-US" sz="12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7"/>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dirty="0"/>
              <a:t>Hotspot Analysis</a:t>
            </a:r>
            <a:endParaRPr dirty="0"/>
          </a:p>
        </p:txBody>
      </p:sp>
      <p:sp>
        <p:nvSpPr>
          <p:cNvPr id="3" name="Rectangle: Rounded Corners 2">
            <a:extLst>
              <a:ext uri="{FF2B5EF4-FFF2-40B4-BE49-F238E27FC236}">
                <a16:creationId xmlns:a16="http://schemas.microsoft.com/office/drawing/2014/main" id="{DE70FF5F-2F89-1D35-5180-A50C72075D29}"/>
              </a:ext>
            </a:extLst>
          </p:cNvPr>
          <p:cNvSpPr/>
          <p:nvPr/>
        </p:nvSpPr>
        <p:spPr>
          <a:xfrm>
            <a:off x="3243701" y="973997"/>
            <a:ext cx="2880177"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74BA5150-E6C6-67E6-4184-193BFFB19A4D}"/>
              </a:ext>
            </a:extLst>
          </p:cNvPr>
          <p:cNvSpPr/>
          <p:nvPr/>
        </p:nvSpPr>
        <p:spPr>
          <a:xfrm>
            <a:off x="223579" y="973997"/>
            <a:ext cx="2880177"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7721EE34-F59C-B475-8D7B-0494BA02BF67}"/>
              </a:ext>
            </a:extLst>
          </p:cNvPr>
          <p:cNvSpPr/>
          <p:nvPr/>
        </p:nvSpPr>
        <p:spPr>
          <a:xfrm>
            <a:off x="6263823" y="973997"/>
            <a:ext cx="2798401"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763F7A40-A1CE-503E-C2B2-4715A1F924E7}"/>
              </a:ext>
            </a:extLst>
          </p:cNvPr>
          <p:cNvSpPr txBox="1"/>
          <p:nvPr/>
        </p:nvSpPr>
        <p:spPr>
          <a:xfrm>
            <a:off x="305991" y="1351892"/>
            <a:ext cx="2720621" cy="2308324"/>
          </a:xfrm>
          <a:prstGeom prst="rect">
            <a:avLst/>
          </a:prstGeom>
          <a:noFill/>
        </p:spPr>
        <p:txBody>
          <a:bodyPr wrap="square">
            <a:spAutoFit/>
          </a:bodyPr>
          <a:lstStyle/>
          <a:p>
            <a:r>
              <a:rPr lang="en-IN" sz="1200" b="1" dirty="0"/>
              <a:t>Regional Hotspot</a:t>
            </a:r>
            <a:r>
              <a:rPr lang="en-IN" sz="1200" dirty="0"/>
              <a:t>:</a:t>
            </a:r>
          </a:p>
          <a:p>
            <a:endParaRPr lang="en-IN" sz="1200" dirty="0"/>
          </a:p>
          <a:p>
            <a:r>
              <a:rPr lang="en-IN" sz="1200" dirty="0"/>
              <a:t> Oceania trips account for </a:t>
            </a:r>
          </a:p>
          <a:p>
            <a:r>
              <a:rPr lang="en-IN" sz="1200" dirty="0"/>
              <a:t>89,424 tonnes (50.2% of total) </a:t>
            </a:r>
          </a:p>
          <a:p>
            <a:r>
              <a:rPr lang="en-IN" sz="1200" dirty="0"/>
              <a:t>emissions — disproportionate relative to trip volume, since it represents </a:t>
            </a:r>
          </a:p>
          <a:p>
            <a:r>
              <a:rPr lang="en-IN" sz="1200" dirty="0"/>
              <a:t>only 32.5% of total trips. </a:t>
            </a:r>
          </a:p>
          <a:p>
            <a:endParaRPr lang="en-IN" sz="1200" dirty="0"/>
          </a:p>
          <a:p>
            <a:r>
              <a:rPr lang="en-IN" sz="1200" dirty="0"/>
              <a:t>This points to long-haul flights from Sydney-based teams as a specific, addressable pattern rather than a general "flights are bad" problem.</a:t>
            </a:r>
          </a:p>
        </p:txBody>
      </p:sp>
      <p:sp>
        <p:nvSpPr>
          <p:cNvPr id="11" name="TextBox 10">
            <a:extLst>
              <a:ext uri="{FF2B5EF4-FFF2-40B4-BE49-F238E27FC236}">
                <a16:creationId xmlns:a16="http://schemas.microsoft.com/office/drawing/2014/main" id="{BA7E3F11-63BF-1A48-3C04-D78DEF54FC85}"/>
              </a:ext>
            </a:extLst>
          </p:cNvPr>
          <p:cNvSpPr txBox="1"/>
          <p:nvPr/>
        </p:nvSpPr>
        <p:spPr>
          <a:xfrm>
            <a:off x="3482896" y="1351892"/>
            <a:ext cx="2286001" cy="1754326"/>
          </a:xfrm>
          <a:prstGeom prst="rect">
            <a:avLst/>
          </a:prstGeom>
          <a:noFill/>
        </p:spPr>
        <p:txBody>
          <a:bodyPr wrap="square">
            <a:spAutoFit/>
          </a:bodyPr>
          <a:lstStyle/>
          <a:p>
            <a:r>
              <a:rPr lang="en-IN" sz="1200" b="1" dirty="0"/>
              <a:t>Business Unit Hotspot</a:t>
            </a:r>
            <a:r>
              <a:rPr lang="en-IN" sz="1200" dirty="0"/>
              <a:t>:</a:t>
            </a:r>
          </a:p>
          <a:p>
            <a:endParaRPr lang="en-IN" sz="1200" dirty="0"/>
          </a:p>
          <a:p>
            <a:r>
              <a:rPr lang="en-IN" sz="1200" dirty="0"/>
              <a:t> Sales and Value Engineering are the top two emitting business units, together accounting for 43.5% of </a:t>
            </a:r>
          </a:p>
          <a:p>
            <a:r>
              <a:rPr lang="en-IN" sz="1200" dirty="0"/>
              <a:t>total emissions — closely matching their 43.5% share </a:t>
            </a:r>
          </a:p>
          <a:p>
            <a:r>
              <a:rPr lang="en-IN" sz="1200" dirty="0"/>
              <a:t>of total trips, indicating volume-driven rather than intensity-driven emissions: these units simply travel more often, not more carbon-intensively per trip.</a:t>
            </a:r>
          </a:p>
        </p:txBody>
      </p:sp>
      <p:sp>
        <p:nvSpPr>
          <p:cNvPr id="13" name="TextBox 12">
            <a:extLst>
              <a:ext uri="{FF2B5EF4-FFF2-40B4-BE49-F238E27FC236}">
                <a16:creationId xmlns:a16="http://schemas.microsoft.com/office/drawing/2014/main" id="{AED9B299-5A31-9091-3C8C-14A5C58D52E5}"/>
              </a:ext>
            </a:extLst>
          </p:cNvPr>
          <p:cNvSpPr txBox="1"/>
          <p:nvPr/>
        </p:nvSpPr>
        <p:spPr>
          <a:xfrm>
            <a:off x="6426821" y="1351892"/>
            <a:ext cx="2286000" cy="1754326"/>
          </a:xfrm>
          <a:prstGeom prst="rect">
            <a:avLst/>
          </a:prstGeom>
          <a:noFill/>
        </p:spPr>
        <p:txBody>
          <a:bodyPr wrap="square">
            <a:spAutoFit/>
          </a:bodyPr>
          <a:lstStyle/>
          <a:p>
            <a:r>
              <a:rPr lang="en-IN" sz="1200" b="1" dirty="0"/>
              <a:t>Purpose Hotspot</a:t>
            </a:r>
            <a:r>
              <a:rPr lang="en-IN" sz="1200" dirty="0"/>
              <a:t>: </a:t>
            </a:r>
          </a:p>
          <a:p>
            <a:endParaRPr lang="en-IN" sz="1200" dirty="0"/>
          </a:p>
          <a:p>
            <a:r>
              <a:rPr lang="en-IN" sz="1200" dirty="0"/>
              <a:t>Customer Visit and Conference/Exhibition trips </a:t>
            </a:r>
          </a:p>
          <a:p>
            <a:r>
              <a:rPr lang="en-IN" sz="1200" dirty="0"/>
              <a:t>are the largest emitting purpose categories, reflecting client-facing and event-driven travel as the core cost </a:t>
            </a:r>
          </a:p>
          <a:p>
            <a:r>
              <a:rPr lang="en-IN" sz="1200" dirty="0"/>
              <a:t>of doing business.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8"/>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a:t>Inefficiencies Identified</a:t>
            </a:r>
            <a:endParaRPr/>
          </a:p>
        </p:txBody>
      </p:sp>
      <p:sp>
        <p:nvSpPr>
          <p:cNvPr id="3" name="Rectangle: Rounded Corners 2">
            <a:extLst>
              <a:ext uri="{FF2B5EF4-FFF2-40B4-BE49-F238E27FC236}">
                <a16:creationId xmlns:a16="http://schemas.microsoft.com/office/drawing/2014/main" id="{8397DC22-A2B6-0CBB-1004-F58845BBA044}"/>
              </a:ext>
            </a:extLst>
          </p:cNvPr>
          <p:cNvSpPr/>
          <p:nvPr/>
        </p:nvSpPr>
        <p:spPr>
          <a:xfrm>
            <a:off x="223579" y="973997"/>
            <a:ext cx="2809553"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F61DFBF3-2BC8-9D44-8EB7-54ADDD97724D}"/>
              </a:ext>
            </a:extLst>
          </p:cNvPr>
          <p:cNvSpPr/>
          <p:nvPr/>
        </p:nvSpPr>
        <p:spPr>
          <a:xfrm>
            <a:off x="6218109" y="992830"/>
            <a:ext cx="2780926"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742FE505-F9FA-D51B-76C0-CF929500B2D8}"/>
              </a:ext>
            </a:extLst>
          </p:cNvPr>
          <p:cNvSpPr/>
          <p:nvPr/>
        </p:nvSpPr>
        <p:spPr>
          <a:xfrm>
            <a:off x="3220844" y="992830"/>
            <a:ext cx="2809553"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BDC28FC-6CB0-21C1-FF86-51D600460EAA}"/>
              </a:ext>
            </a:extLst>
          </p:cNvPr>
          <p:cNvSpPr txBox="1"/>
          <p:nvPr/>
        </p:nvSpPr>
        <p:spPr>
          <a:xfrm>
            <a:off x="485355" y="1274865"/>
            <a:ext cx="2286000" cy="2308324"/>
          </a:xfrm>
          <a:prstGeom prst="rect">
            <a:avLst/>
          </a:prstGeom>
          <a:noFill/>
        </p:spPr>
        <p:txBody>
          <a:bodyPr wrap="square">
            <a:spAutoFit/>
          </a:bodyPr>
          <a:lstStyle/>
          <a:p>
            <a:r>
              <a:rPr lang="en-IN" sz="1200" b="1" dirty="0"/>
              <a:t>Efficient Stages</a:t>
            </a:r>
            <a:r>
              <a:rPr lang="en-IN" sz="1200" dirty="0"/>
              <a:t>:</a:t>
            </a:r>
          </a:p>
          <a:p>
            <a:endParaRPr lang="en-IN" sz="1200" dirty="0"/>
          </a:p>
          <a:p>
            <a:r>
              <a:rPr lang="en-IN" sz="1200" dirty="0"/>
              <a:t> Travel request approval is fast — 96% of trips move from approval to confirmation within hours.</a:t>
            </a:r>
          </a:p>
          <a:p>
            <a:endParaRPr lang="en-IN" sz="1200" dirty="0"/>
          </a:p>
          <a:p>
            <a:r>
              <a:rPr lang="en-IN" sz="1200" dirty="0"/>
              <a:t> Expense reimbursement is even faster, with a median approval time of ~30 minutes. These stages are not where the process breaks down.</a:t>
            </a:r>
          </a:p>
        </p:txBody>
      </p:sp>
      <p:sp>
        <p:nvSpPr>
          <p:cNvPr id="11" name="TextBox 10">
            <a:extLst>
              <a:ext uri="{FF2B5EF4-FFF2-40B4-BE49-F238E27FC236}">
                <a16:creationId xmlns:a16="http://schemas.microsoft.com/office/drawing/2014/main" id="{9D26BEA9-24E7-ABDC-FD65-D7883D5E5911}"/>
              </a:ext>
            </a:extLst>
          </p:cNvPr>
          <p:cNvSpPr txBox="1"/>
          <p:nvPr/>
        </p:nvSpPr>
        <p:spPr>
          <a:xfrm>
            <a:off x="3411995" y="1274865"/>
            <a:ext cx="2427249" cy="3046988"/>
          </a:xfrm>
          <a:prstGeom prst="rect">
            <a:avLst/>
          </a:prstGeom>
          <a:noFill/>
        </p:spPr>
        <p:txBody>
          <a:bodyPr wrap="square">
            <a:spAutoFit/>
          </a:bodyPr>
          <a:lstStyle/>
          <a:p>
            <a:r>
              <a:rPr lang="en-IN" sz="1200" b="1" dirty="0"/>
              <a:t>The Core Inefficiency</a:t>
            </a:r>
            <a:r>
              <a:rPr lang="en-IN" sz="1200" dirty="0"/>
              <a:t>: </a:t>
            </a:r>
          </a:p>
          <a:p>
            <a:endParaRPr lang="en-IN" sz="1200" dirty="0"/>
          </a:p>
          <a:p>
            <a:r>
              <a:rPr lang="en-IN" sz="1200" dirty="0"/>
              <a:t>Only 46% of trips (30,191 of 65,289) proceed directly from Receive Confirmation to Take Departure Flight.</a:t>
            </a:r>
          </a:p>
          <a:p>
            <a:endParaRPr lang="en-IN" sz="1200" dirty="0"/>
          </a:p>
          <a:p>
            <a:r>
              <a:rPr lang="en-IN" sz="1200" dirty="0"/>
              <a:t> The remaining 54% (35,098 trips) deviate from this path — typically through </a:t>
            </a:r>
            <a:r>
              <a:rPr lang="en-IN" sz="1200" dirty="0" err="1"/>
              <a:t>rebookings</a:t>
            </a:r>
            <a:r>
              <a:rPr lang="en-IN" sz="1200" dirty="0"/>
              <a:t>, schedule conflicts, or hotel changes — adding a median of 19 days between confirmation and departure versus a same-day/next-day pattern for the direct-path cohort.</a:t>
            </a:r>
          </a:p>
        </p:txBody>
      </p:sp>
      <p:sp>
        <p:nvSpPr>
          <p:cNvPr id="13" name="TextBox 12">
            <a:extLst>
              <a:ext uri="{FF2B5EF4-FFF2-40B4-BE49-F238E27FC236}">
                <a16:creationId xmlns:a16="http://schemas.microsoft.com/office/drawing/2014/main" id="{9BB4C6BD-7FFC-7DB7-E0B5-DE5DDD3F2A34}"/>
              </a:ext>
            </a:extLst>
          </p:cNvPr>
          <p:cNvSpPr txBox="1"/>
          <p:nvPr/>
        </p:nvSpPr>
        <p:spPr>
          <a:xfrm>
            <a:off x="6356195" y="1274865"/>
            <a:ext cx="2468137" cy="1938992"/>
          </a:xfrm>
          <a:prstGeom prst="rect">
            <a:avLst/>
          </a:prstGeom>
          <a:noFill/>
        </p:spPr>
        <p:txBody>
          <a:bodyPr wrap="square">
            <a:spAutoFit/>
          </a:bodyPr>
          <a:lstStyle/>
          <a:p>
            <a:r>
              <a:rPr lang="en-IN" sz="1200" b="1" dirty="0"/>
              <a:t>Root causes:</a:t>
            </a:r>
          </a:p>
          <a:p>
            <a:endParaRPr lang="en-IN" sz="1200" b="1" dirty="0"/>
          </a:p>
          <a:p>
            <a:r>
              <a:rPr lang="en-IN" sz="1200" dirty="0"/>
              <a:t>Rebooking reasons cluster around</a:t>
            </a:r>
          </a:p>
          <a:p>
            <a:r>
              <a:rPr lang="en-IN" sz="1200" dirty="0"/>
              <a:t>Cost Optimization (1,905 cases), Client Preference (1,889 cases), Time Constraints (1,867 cases), and Safety Concerns (1,861 cases) — a near-even split across four distinct drivers among the ~7,522 trips (11.5% of all trips) with a recorded change reason, suggesting no single dominant cause but a systemic pattern of last-minute change requests.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F5DD7D1F-5AC4-DFA5-DCD2-E514DAEFD413}"/>
            </a:ext>
          </a:extLst>
        </p:cNvPr>
        <p:cNvGrpSpPr/>
        <p:nvPr/>
      </p:nvGrpSpPr>
      <p:grpSpPr>
        <a:xfrm>
          <a:off x="0" y="0"/>
          <a:ext cx="0" cy="0"/>
          <a:chOff x="0" y="0"/>
          <a:chExt cx="0" cy="0"/>
        </a:xfrm>
      </p:grpSpPr>
      <p:sp>
        <p:nvSpPr>
          <p:cNvPr id="175" name="Google Shape;175;p38">
            <a:extLst>
              <a:ext uri="{FF2B5EF4-FFF2-40B4-BE49-F238E27FC236}">
                <a16:creationId xmlns:a16="http://schemas.microsoft.com/office/drawing/2014/main" id="{CC307FB5-8E7F-B3DF-5CBA-82B4AD4D086D}"/>
              </a:ext>
            </a:extLst>
          </p:cNvPr>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p>
            <a:pPr lvl="0"/>
            <a:r>
              <a:rPr lang="en" dirty="0"/>
              <a:t>Low Carbon Strategic Recommendations (Quantified)</a:t>
            </a:r>
            <a:endParaRPr dirty="0"/>
          </a:p>
        </p:txBody>
      </p:sp>
      <p:sp>
        <p:nvSpPr>
          <p:cNvPr id="3" name="Rectangle: Rounded Corners 2">
            <a:extLst>
              <a:ext uri="{FF2B5EF4-FFF2-40B4-BE49-F238E27FC236}">
                <a16:creationId xmlns:a16="http://schemas.microsoft.com/office/drawing/2014/main" id="{0EE988E2-BEAB-6146-FF9F-E4FDCBFE7477}"/>
              </a:ext>
            </a:extLst>
          </p:cNvPr>
          <p:cNvSpPr/>
          <p:nvPr/>
        </p:nvSpPr>
        <p:spPr>
          <a:xfrm>
            <a:off x="223579" y="973996"/>
            <a:ext cx="2809553" cy="4088657"/>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99391B81-4BB0-76D6-E8FE-C80AEF4E4916}"/>
              </a:ext>
            </a:extLst>
          </p:cNvPr>
          <p:cNvSpPr/>
          <p:nvPr/>
        </p:nvSpPr>
        <p:spPr>
          <a:xfrm>
            <a:off x="6218109" y="992830"/>
            <a:ext cx="2780926"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3E237AF3-EA79-6542-DAF1-6E6D37E06788}"/>
              </a:ext>
            </a:extLst>
          </p:cNvPr>
          <p:cNvSpPr/>
          <p:nvPr/>
        </p:nvSpPr>
        <p:spPr>
          <a:xfrm>
            <a:off x="3220844" y="992830"/>
            <a:ext cx="2809553"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8B60D4D-4432-CB9F-F1FD-65A4B7618276}"/>
              </a:ext>
            </a:extLst>
          </p:cNvPr>
          <p:cNvSpPr txBox="1"/>
          <p:nvPr/>
        </p:nvSpPr>
        <p:spPr>
          <a:xfrm>
            <a:off x="485355" y="1274865"/>
            <a:ext cx="2286000" cy="2769989"/>
          </a:xfrm>
          <a:prstGeom prst="rect">
            <a:avLst/>
          </a:prstGeom>
          <a:noFill/>
        </p:spPr>
        <p:txBody>
          <a:bodyPr wrap="square">
            <a:spAutoFit/>
          </a:bodyPr>
          <a:lstStyle/>
          <a:p>
            <a:r>
              <a:rPr lang="en-IN" sz="1200" b="1" dirty="0"/>
              <a:t>Shift short-haul Air to Rail:</a:t>
            </a:r>
          </a:p>
          <a:p>
            <a:endParaRPr lang="en-IN" sz="1200" dirty="0"/>
          </a:p>
          <a:p>
            <a:r>
              <a:rPr lang="en-IN" sz="1000" dirty="0"/>
              <a:t>Redirecting short-haul flights currently booked as Air to Rail alternatives would reduce average per-trip emissions from 3,450 kg to 445 kg CO2e — an 87.1% reduction.</a:t>
            </a:r>
          </a:p>
          <a:p>
            <a:endParaRPr lang="en-IN" sz="1000" dirty="0"/>
          </a:p>
          <a:p>
            <a:r>
              <a:rPr lang="en-IN" sz="1000" dirty="0"/>
              <a:t> Applied across an estimated [INSERT: domestic-flight trip count] eligible short-haul trips annually, this represents a potential saving of [INSERT: trip count x 3,005kg / 1000] tonnes CO2e and $[INSERT: avg NetCosts delta x trip count] in costs — see speaker notes for the exact Celonis formulas.</a:t>
            </a:r>
          </a:p>
        </p:txBody>
      </p:sp>
      <p:sp>
        <p:nvSpPr>
          <p:cNvPr id="11" name="TextBox 10">
            <a:extLst>
              <a:ext uri="{FF2B5EF4-FFF2-40B4-BE49-F238E27FC236}">
                <a16:creationId xmlns:a16="http://schemas.microsoft.com/office/drawing/2014/main" id="{8C31452B-0F1E-94B0-4D11-FCECCC186703}"/>
              </a:ext>
            </a:extLst>
          </p:cNvPr>
          <p:cNvSpPr txBox="1"/>
          <p:nvPr/>
        </p:nvSpPr>
        <p:spPr>
          <a:xfrm>
            <a:off x="3358375" y="1274865"/>
            <a:ext cx="2427249" cy="2646878"/>
          </a:xfrm>
          <a:prstGeom prst="rect">
            <a:avLst/>
          </a:prstGeom>
          <a:noFill/>
        </p:spPr>
        <p:txBody>
          <a:bodyPr wrap="square">
            <a:spAutoFit/>
          </a:bodyPr>
          <a:lstStyle/>
          <a:p>
            <a:r>
              <a:rPr lang="en-IN" sz="1200" b="1" dirty="0"/>
              <a:t>Reduce out-of-policy / rushed bookings:</a:t>
            </a:r>
          </a:p>
          <a:p>
            <a:endParaRPr lang="en-IN" sz="1200" dirty="0"/>
          </a:p>
          <a:p>
            <a:r>
              <a:rPr lang="en-IN" sz="1000" dirty="0"/>
              <a:t>Out-of-policy trips average 3,625 kg CO2e per trip versus 2,525 kg CO2e for in-policy trips — a 43.5% premium.</a:t>
            </a:r>
          </a:p>
          <a:p>
            <a:endParaRPr lang="en-IN" sz="1000" dirty="0"/>
          </a:p>
          <a:p>
            <a:r>
              <a:rPr lang="en-IN" sz="1000" dirty="0"/>
              <a:t> Tightening approval-to-booking lead time (currently a median 19 days from confirmation to departure across the 54% of trips that deviate from the standard path) could bring out-of-policy trips (an estimated 12,013 trips, 18.4% of volume) in line with standard trips, saving an estimated 13,212 tonnes CO2e annually.</a:t>
            </a:r>
          </a:p>
        </p:txBody>
      </p:sp>
      <p:sp>
        <p:nvSpPr>
          <p:cNvPr id="13" name="TextBox 12">
            <a:extLst>
              <a:ext uri="{FF2B5EF4-FFF2-40B4-BE49-F238E27FC236}">
                <a16:creationId xmlns:a16="http://schemas.microsoft.com/office/drawing/2014/main" id="{EABF653D-87B2-DC72-E5AF-C0473D30FC70}"/>
              </a:ext>
            </a:extLst>
          </p:cNvPr>
          <p:cNvSpPr txBox="1"/>
          <p:nvPr/>
        </p:nvSpPr>
        <p:spPr>
          <a:xfrm>
            <a:off x="6374503" y="1274865"/>
            <a:ext cx="2468137" cy="3570208"/>
          </a:xfrm>
          <a:prstGeom prst="rect">
            <a:avLst/>
          </a:prstGeom>
          <a:noFill/>
        </p:spPr>
        <p:txBody>
          <a:bodyPr wrap="square">
            <a:spAutoFit/>
          </a:bodyPr>
          <a:lstStyle/>
          <a:p>
            <a:r>
              <a:rPr lang="en-IN" sz="1200" b="1" dirty="0"/>
              <a:t>Address the Oceania/Sales hotspot specifically</a:t>
            </a:r>
            <a:r>
              <a:rPr lang="en-IN" sz="1200" dirty="0"/>
              <a:t>:</a:t>
            </a:r>
          </a:p>
          <a:p>
            <a:endParaRPr lang="en-IN" sz="1200" b="1" dirty="0"/>
          </a:p>
          <a:p>
            <a:r>
              <a:rPr lang="en-IN" sz="1000" dirty="0"/>
              <a:t>Given Oceania's disproportionate share of emissions relative to trip volume (50.2% of emissions from just 32.5% of trips), and Sales' position as the top emitting business unit, introducing a virtual-first policy for Oceania-based Sales customer visits — replacing an estimated 25% of these trips with video conferencing — with video conferencing as the default for initial check-ins and status reviews — could avoid an estimated 3,261 tonnes CO2e annually, based on the average per-trip emissions for this specific route/BU/purpose combination (3,059 trips averaging 4,264 kg CO2e each) — with proportional cost savings expected given Oceania long-haul trips also carry above-average per-trip spend.</a:t>
            </a:r>
          </a:p>
        </p:txBody>
      </p:sp>
    </p:spTree>
    <p:extLst>
      <p:ext uri="{BB962C8B-B14F-4D97-AF65-F5344CB8AC3E}">
        <p14:creationId xmlns:p14="http://schemas.microsoft.com/office/powerpoint/2010/main" val="3644425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5F26A44D-2F73-8589-2FAF-3E5658923DB0}"/>
            </a:ext>
          </a:extLst>
        </p:cNvPr>
        <p:cNvGrpSpPr/>
        <p:nvPr/>
      </p:nvGrpSpPr>
      <p:grpSpPr>
        <a:xfrm>
          <a:off x="0" y="0"/>
          <a:ext cx="0" cy="0"/>
          <a:chOff x="0" y="0"/>
          <a:chExt cx="0" cy="0"/>
        </a:xfrm>
      </p:grpSpPr>
      <p:sp>
        <p:nvSpPr>
          <p:cNvPr id="175" name="Google Shape;175;p38">
            <a:extLst>
              <a:ext uri="{FF2B5EF4-FFF2-40B4-BE49-F238E27FC236}">
                <a16:creationId xmlns:a16="http://schemas.microsoft.com/office/drawing/2014/main" id="{48D7E419-A952-B769-8247-47CCE4E1C4A8}"/>
              </a:ext>
            </a:extLst>
          </p:cNvPr>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p>
            <a:pPr lvl="0"/>
            <a:r>
              <a:rPr lang="en" dirty="0"/>
              <a:t>Strategic Integration Roadmap</a:t>
            </a:r>
            <a:endParaRPr dirty="0"/>
          </a:p>
        </p:txBody>
      </p:sp>
      <p:sp>
        <p:nvSpPr>
          <p:cNvPr id="3" name="Rectangle: Rounded Corners 2">
            <a:extLst>
              <a:ext uri="{FF2B5EF4-FFF2-40B4-BE49-F238E27FC236}">
                <a16:creationId xmlns:a16="http://schemas.microsoft.com/office/drawing/2014/main" id="{EC2414F8-BD03-33AB-3E34-AFCE54D754F1}"/>
              </a:ext>
            </a:extLst>
          </p:cNvPr>
          <p:cNvSpPr/>
          <p:nvPr/>
        </p:nvSpPr>
        <p:spPr>
          <a:xfrm>
            <a:off x="223579" y="973997"/>
            <a:ext cx="2809553"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6A1BEB11-46B9-337E-367A-E06A03EA42D6}"/>
              </a:ext>
            </a:extLst>
          </p:cNvPr>
          <p:cNvSpPr/>
          <p:nvPr/>
        </p:nvSpPr>
        <p:spPr>
          <a:xfrm>
            <a:off x="6218109" y="992830"/>
            <a:ext cx="2780926"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EA172ADF-6969-EEB5-571F-F3859D1C89C7}"/>
              </a:ext>
            </a:extLst>
          </p:cNvPr>
          <p:cNvSpPr/>
          <p:nvPr/>
        </p:nvSpPr>
        <p:spPr>
          <a:xfrm>
            <a:off x="3220844" y="992830"/>
            <a:ext cx="2809553" cy="38880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4A03D4F6-6DF4-1D94-74D4-F60792974A0F}"/>
              </a:ext>
            </a:extLst>
          </p:cNvPr>
          <p:cNvSpPr txBox="1"/>
          <p:nvPr/>
        </p:nvSpPr>
        <p:spPr>
          <a:xfrm>
            <a:off x="485355" y="1274865"/>
            <a:ext cx="2286000" cy="3046988"/>
          </a:xfrm>
          <a:prstGeom prst="rect">
            <a:avLst/>
          </a:prstGeom>
          <a:noFill/>
        </p:spPr>
        <p:txBody>
          <a:bodyPr wrap="square">
            <a:spAutoFit/>
          </a:bodyPr>
          <a:lstStyle/>
          <a:p>
            <a:r>
              <a:rPr lang="en-IN" sz="1200" b="1" dirty="0"/>
              <a:t>Phase 1 (0–6 months) — Visibility</a:t>
            </a:r>
            <a:r>
              <a:rPr lang="en-IN" sz="1200" dirty="0"/>
              <a:t>: </a:t>
            </a:r>
          </a:p>
          <a:p>
            <a:endParaRPr lang="en-IN" sz="1200" dirty="0"/>
          </a:p>
          <a:p>
            <a:endParaRPr lang="en-IN" sz="1200" dirty="0"/>
          </a:p>
          <a:p>
            <a:r>
              <a:rPr lang="en-IN" sz="1200" dirty="0"/>
              <a:t>Embed real-time carbon metrics directly into the booking and approval workflow (per </a:t>
            </a:r>
            <a:r>
              <a:rPr lang="en-IN" sz="1200" dirty="0" err="1"/>
              <a:t>Celonis</a:t>
            </a:r>
            <a:r>
              <a:rPr lang="en-IN" sz="1200" dirty="0"/>
              <a:t>' own stated strategic objective).</a:t>
            </a:r>
          </a:p>
          <a:p>
            <a:endParaRPr lang="en-IN" sz="1200" dirty="0"/>
          </a:p>
          <a:p>
            <a:r>
              <a:rPr lang="en-IN" sz="1200" dirty="0"/>
              <a:t> Deploy the confirmation-to-departure tracking built in this dashboard as a standing operational KPI, targeting a reduction in the current 54% deviation rate.</a:t>
            </a:r>
          </a:p>
        </p:txBody>
      </p:sp>
      <p:sp>
        <p:nvSpPr>
          <p:cNvPr id="11" name="TextBox 10">
            <a:extLst>
              <a:ext uri="{FF2B5EF4-FFF2-40B4-BE49-F238E27FC236}">
                <a16:creationId xmlns:a16="http://schemas.microsoft.com/office/drawing/2014/main" id="{69D801B9-7BA7-EDCE-77C3-B718880D3B02}"/>
              </a:ext>
            </a:extLst>
          </p:cNvPr>
          <p:cNvSpPr txBox="1"/>
          <p:nvPr/>
        </p:nvSpPr>
        <p:spPr>
          <a:xfrm>
            <a:off x="3358375" y="1274865"/>
            <a:ext cx="2427249" cy="3231654"/>
          </a:xfrm>
          <a:prstGeom prst="rect">
            <a:avLst/>
          </a:prstGeom>
          <a:noFill/>
        </p:spPr>
        <p:txBody>
          <a:bodyPr wrap="square">
            <a:spAutoFit/>
          </a:bodyPr>
          <a:lstStyle/>
          <a:p>
            <a:r>
              <a:rPr lang="en-IN" sz="1200" b="1" dirty="0"/>
              <a:t>Phase 2 (6–18 months) — Policy</a:t>
            </a:r>
            <a:r>
              <a:rPr lang="en-IN" sz="1200" dirty="0"/>
              <a:t>:</a:t>
            </a:r>
          </a:p>
          <a:p>
            <a:endParaRPr lang="en-IN" sz="1200" dirty="0"/>
          </a:p>
          <a:p>
            <a:endParaRPr lang="en-IN" sz="1200" dirty="0"/>
          </a:p>
          <a:p>
            <a:r>
              <a:rPr lang="en-IN" sz="1200" dirty="0"/>
              <a:t>Introduce a rail-first mandate for short-haul intra-regional routes under a defined distance threshold.</a:t>
            </a:r>
          </a:p>
          <a:p>
            <a:endParaRPr lang="en-IN" sz="1200" dirty="0"/>
          </a:p>
          <a:p>
            <a:r>
              <a:rPr lang="en-IN" sz="1200" dirty="0"/>
              <a:t> Set carbon budgets specifically for Sales and Value Engineering, </a:t>
            </a:r>
            <a:r>
              <a:rPr lang="en-IN" sz="1200" dirty="0" err="1"/>
              <a:t>Celonis</a:t>
            </a:r>
            <a:r>
              <a:rPr lang="en-IN" sz="1200" dirty="0"/>
              <a:t>' two highest-emitting business units. </a:t>
            </a:r>
          </a:p>
          <a:p>
            <a:endParaRPr lang="en-IN" sz="1200" dirty="0"/>
          </a:p>
          <a:p>
            <a:r>
              <a:rPr lang="en-IN" sz="1200" dirty="0"/>
              <a:t>Tighten approval-to-booking lead time requirements to reduce rushed, high-emission bookings.</a:t>
            </a:r>
          </a:p>
        </p:txBody>
      </p:sp>
      <p:sp>
        <p:nvSpPr>
          <p:cNvPr id="13" name="TextBox 12">
            <a:extLst>
              <a:ext uri="{FF2B5EF4-FFF2-40B4-BE49-F238E27FC236}">
                <a16:creationId xmlns:a16="http://schemas.microsoft.com/office/drawing/2014/main" id="{C7E9B4AB-48D0-0A18-67F2-37704D221FA3}"/>
              </a:ext>
            </a:extLst>
          </p:cNvPr>
          <p:cNvSpPr txBox="1"/>
          <p:nvPr/>
        </p:nvSpPr>
        <p:spPr>
          <a:xfrm>
            <a:off x="6374503" y="1274865"/>
            <a:ext cx="2468137" cy="2677656"/>
          </a:xfrm>
          <a:prstGeom prst="rect">
            <a:avLst/>
          </a:prstGeom>
          <a:noFill/>
        </p:spPr>
        <p:txBody>
          <a:bodyPr wrap="square">
            <a:spAutoFit/>
          </a:bodyPr>
          <a:lstStyle/>
          <a:p>
            <a:r>
              <a:rPr lang="en-IN" sz="1200" b="1" dirty="0"/>
              <a:t>Phase 3 (18–36 months, through 2030) — Automation &amp; Structural Change</a:t>
            </a:r>
            <a:r>
              <a:rPr lang="en-IN" sz="1200" dirty="0"/>
              <a:t>:</a:t>
            </a:r>
          </a:p>
          <a:p>
            <a:endParaRPr lang="en-IN" sz="1200" b="1" dirty="0"/>
          </a:p>
          <a:p>
            <a:r>
              <a:rPr lang="en-IN" sz="1200" dirty="0"/>
              <a:t>Automate carbon-based approval routing so high-emission bookings trigger mandatory review. Pursue Sustainable Aviation Fuel (SAF) procurement for unavoidable long-haul routes.</a:t>
            </a:r>
          </a:p>
          <a:p>
            <a:endParaRPr lang="en-IN" sz="1200" dirty="0"/>
          </a:p>
          <a:p>
            <a:r>
              <a:rPr lang="en-IN" sz="1200" dirty="0"/>
              <a:t> Evaluate regional hub consolidation to reduce Oceania-origin long-haul dependency.</a:t>
            </a:r>
          </a:p>
        </p:txBody>
      </p:sp>
    </p:spTree>
    <p:extLst>
      <p:ext uri="{BB962C8B-B14F-4D97-AF65-F5344CB8AC3E}">
        <p14:creationId xmlns:p14="http://schemas.microsoft.com/office/powerpoint/2010/main" val="2545999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41"/>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p>
            <a:pPr lvl="0"/>
            <a:r>
              <a:rPr lang="en-IN"/>
              <a:t>178,090 tonnes CO2e across 65,289 trips, 18% out-of-policy</a:t>
            </a:r>
            <a:endParaRPr dirty="0"/>
          </a:p>
        </p:txBody>
      </p:sp>
      <p:pic>
        <p:nvPicPr>
          <p:cNvPr id="9" name="Picture 8">
            <a:extLst>
              <a:ext uri="{FF2B5EF4-FFF2-40B4-BE49-F238E27FC236}">
                <a16:creationId xmlns:a16="http://schemas.microsoft.com/office/drawing/2014/main" id="{EC3CB116-C65C-A428-34A3-B6365127D6C5}"/>
              </a:ext>
            </a:extLst>
          </p:cNvPr>
          <p:cNvPicPr>
            <a:picLocks noChangeAspect="1"/>
          </p:cNvPicPr>
          <p:nvPr/>
        </p:nvPicPr>
        <p:blipFill>
          <a:blip r:embed="rId3"/>
          <a:stretch>
            <a:fillRect/>
          </a:stretch>
        </p:blipFill>
        <p:spPr>
          <a:xfrm>
            <a:off x="0" y="833850"/>
            <a:ext cx="9144000" cy="40319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E29D7-E4F3-F248-C202-BF69CBE5599E}"/>
              </a:ext>
            </a:extLst>
          </p:cNvPr>
          <p:cNvSpPr>
            <a:spLocks noGrp="1"/>
          </p:cNvSpPr>
          <p:nvPr>
            <p:ph type="title"/>
          </p:nvPr>
        </p:nvSpPr>
        <p:spPr/>
        <p:txBody>
          <a:bodyPr/>
          <a:lstStyle/>
          <a:p>
            <a:r>
              <a:rPr lang="en-IN" dirty="0"/>
              <a:t>Oceania and Sales identified as primary emissions hotspots</a:t>
            </a:r>
          </a:p>
        </p:txBody>
      </p:sp>
      <p:pic>
        <p:nvPicPr>
          <p:cNvPr id="10" name="Picture 9">
            <a:extLst>
              <a:ext uri="{FF2B5EF4-FFF2-40B4-BE49-F238E27FC236}">
                <a16:creationId xmlns:a16="http://schemas.microsoft.com/office/drawing/2014/main" id="{6EA6D61F-68D7-22AC-8004-25F80B8097CF}"/>
              </a:ext>
            </a:extLst>
          </p:cNvPr>
          <p:cNvPicPr>
            <a:picLocks noChangeAspect="1"/>
          </p:cNvPicPr>
          <p:nvPr/>
        </p:nvPicPr>
        <p:blipFill>
          <a:blip r:embed="rId2"/>
          <a:stretch>
            <a:fillRect/>
          </a:stretch>
        </p:blipFill>
        <p:spPr>
          <a:xfrm>
            <a:off x="1576039" y="837458"/>
            <a:ext cx="5010615" cy="1734292"/>
          </a:xfrm>
          <a:prstGeom prst="rect">
            <a:avLst/>
          </a:prstGeom>
        </p:spPr>
      </p:pic>
      <p:pic>
        <p:nvPicPr>
          <p:cNvPr id="12" name="Picture 11">
            <a:extLst>
              <a:ext uri="{FF2B5EF4-FFF2-40B4-BE49-F238E27FC236}">
                <a16:creationId xmlns:a16="http://schemas.microsoft.com/office/drawing/2014/main" id="{E5C24E1F-6D84-6F4E-DFE3-49B605B6030F}"/>
              </a:ext>
            </a:extLst>
          </p:cNvPr>
          <p:cNvPicPr>
            <a:picLocks noChangeAspect="1"/>
          </p:cNvPicPr>
          <p:nvPr/>
        </p:nvPicPr>
        <p:blipFill>
          <a:blip r:embed="rId3"/>
          <a:stretch>
            <a:fillRect/>
          </a:stretch>
        </p:blipFill>
        <p:spPr>
          <a:xfrm>
            <a:off x="785410" y="2662524"/>
            <a:ext cx="7057614" cy="2203247"/>
          </a:xfrm>
          <a:prstGeom prst="rect">
            <a:avLst/>
          </a:prstGeom>
        </p:spPr>
      </p:pic>
    </p:spTree>
    <p:extLst>
      <p:ext uri="{BB962C8B-B14F-4D97-AF65-F5344CB8AC3E}">
        <p14:creationId xmlns:p14="http://schemas.microsoft.com/office/powerpoint/2010/main" val="800705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36ADD-ED79-95AA-544C-E7F66583EE50}"/>
              </a:ext>
            </a:extLst>
          </p:cNvPr>
          <p:cNvSpPr>
            <a:spLocks noGrp="1"/>
          </p:cNvSpPr>
          <p:nvPr>
            <p:ph type="title"/>
          </p:nvPr>
        </p:nvSpPr>
        <p:spPr/>
        <p:txBody>
          <a:bodyPr/>
          <a:lstStyle/>
          <a:p>
            <a:r>
              <a:rPr lang="en-IN" dirty="0"/>
              <a:t>Air travel dominates emissions; top individual trips flagged for review</a:t>
            </a:r>
          </a:p>
        </p:txBody>
      </p:sp>
      <p:pic>
        <p:nvPicPr>
          <p:cNvPr id="4" name="Picture 3">
            <a:extLst>
              <a:ext uri="{FF2B5EF4-FFF2-40B4-BE49-F238E27FC236}">
                <a16:creationId xmlns:a16="http://schemas.microsoft.com/office/drawing/2014/main" id="{D2CE2BBF-8E75-A2B0-F652-CC700DCC6DEF}"/>
              </a:ext>
            </a:extLst>
          </p:cNvPr>
          <p:cNvPicPr>
            <a:picLocks noChangeAspect="1"/>
          </p:cNvPicPr>
          <p:nvPr/>
        </p:nvPicPr>
        <p:blipFill>
          <a:blip r:embed="rId2"/>
          <a:stretch>
            <a:fillRect/>
          </a:stretch>
        </p:blipFill>
        <p:spPr>
          <a:xfrm>
            <a:off x="0" y="825935"/>
            <a:ext cx="9144000" cy="4129047"/>
          </a:xfrm>
          <a:prstGeom prst="rect">
            <a:avLst/>
          </a:prstGeom>
        </p:spPr>
      </p:pic>
    </p:spTree>
    <p:extLst>
      <p:ext uri="{BB962C8B-B14F-4D97-AF65-F5344CB8AC3E}">
        <p14:creationId xmlns:p14="http://schemas.microsoft.com/office/powerpoint/2010/main" val="295189834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elonis Template 2024">
  <a:themeElements>
    <a:clrScheme name="Celonis">
      <a:dk1>
        <a:srgbClr val="000000"/>
      </a:dk1>
      <a:lt1>
        <a:srgbClr val="FFFFFF"/>
      </a:lt1>
      <a:dk2>
        <a:srgbClr val="000143"/>
      </a:dk2>
      <a:lt2>
        <a:srgbClr val="0028FF"/>
      </a:lt2>
      <a:accent1>
        <a:srgbClr val="5CFE50"/>
      </a:accent1>
      <a:accent2>
        <a:srgbClr val="00DCFF"/>
      </a:accent2>
      <a:accent3>
        <a:srgbClr val="B6FE76"/>
      </a:accent3>
      <a:accent4>
        <a:srgbClr val="EDFF61"/>
      </a:accent4>
      <a:accent5>
        <a:srgbClr val="7E8383"/>
      </a:accent5>
      <a:accent6>
        <a:srgbClr val="464650"/>
      </a:accent6>
      <a:hlink>
        <a:srgbClr val="0028FF"/>
      </a:hlink>
      <a:folHlink>
        <a:srgbClr val="00DC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elonis Template 2024">
  <a:themeElements>
    <a:clrScheme name="Celonis">
      <a:dk1>
        <a:srgbClr val="000000"/>
      </a:dk1>
      <a:lt1>
        <a:srgbClr val="FFFFFF"/>
      </a:lt1>
      <a:dk2>
        <a:srgbClr val="000143"/>
      </a:dk2>
      <a:lt2>
        <a:srgbClr val="0028FF"/>
      </a:lt2>
      <a:accent1>
        <a:srgbClr val="5CFE50"/>
      </a:accent1>
      <a:accent2>
        <a:srgbClr val="00DCFF"/>
      </a:accent2>
      <a:accent3>
        <a:srgbClr val="B6FE76"/>
      </a:accent3>
      <a:accent4>
        <a:srgbClr val="EDFF61"/>
      </a:accent4>
      <a:accent5>
        <a:srgbClr val="7E8383"/>
      </a:accent5>
      <a:accent6>
        <a:srgbClr val="464650"/>
      </a:accent6>
      <a:hlink>
        <a:srgbClr val="0028FF"/>
      </a:hlink>
      <a:folHlink>
        <a:srgbClr val="00DC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300</TotalTime>
  <Words>1480</Words>
  <Application>Microsoft Office PowerPoint</Application>
  <PresentationFormat>On-screen Show (16:9)</PresentationFormat>
  <Paragraphs>120</Paragraphs>
  <Slides>10</Slides>
  <Notes>8</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10</vt:i4>
      </vt:variant>
    </vt:vector>
  </HeadingPairs>
  <TitlesOfParts>
    <vt:vector size="16" baseType="lpstr">
      <vt:lpstr>Arial</vt:lpstr>
      <vt:lpstr>Poppins</vt:lpstr>
      <vt:lpstr>Poppins SemiBold</vt:lpstr>
      <vt:lpstr>Simple Light</vt:lpstr>
      <vt:lpstr>Celonis Template 2024</vt:lpstr>
      <vt:lpstr>Celonis Template 2024</vt:lpstr>
      <vt:lpstr>Sustainability Capstone: Decarbonising Travel</vt:lpstr>
      <vt:lpstr>Executive Summary</vt:lpstr>
      <vt:lpstr>Emissions Profile and Benchmarking</vt:lpstr>
      <vt:lpstr>Hotspot Analysis</vt:lpstr>
      <vt:lpstr>Inefficiencies Identified</vt:lpstr>
      <vt:lpstr>Low Carbon Strategic Recommendations (Quantified)</vt:lpstr>
      <vt:lpstr>Strategic Integration Roadmap</vt:lpstr>
      <vt:lpstr>178,090 tonnes CO2e across 65,289 trips, 18% out-of-policy</vt:lpstr>
      <vt:lpstr>Oceania and Sales identified as primary emissions hotspots</vt:lpstr>
      <vt:lpstr>Air travel dominates emissions; top individual trips flagged for 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Varun Singhal</cp:lastModifiedBy>
  <cp:revision>5</cp:revision>
  <dcterms:modified xsi:type="dcterms:W3CDTF">2026-07-11T20:19:15Z</dcterms:modified>
</cp:coreProperties>
</file>